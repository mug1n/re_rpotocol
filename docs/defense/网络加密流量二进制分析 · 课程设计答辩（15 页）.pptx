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70" r:id="rId20"/>
    <p:sldId id="268" r:id="rId15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tstream"/>
          <p:cNvSpPr txBox="1"/>
          <p:nvPr/>
        </p:nvSpPr>
        <p:spPr>
          <a:xfrm>
            <a:off x="7112000" y="381000"/>
            <a:ext cx="4826000" cy="609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90000"/>
              </a:lnSpc>
            </a:pPr>
            <a:r>
              <a:rPr lang="en-US" sz="1500" kern="0" spc="300" noProof="1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01100010 01101001 01110100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kern="0" spc="300" noProof="1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10110100 01001110 10011001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kern="0" spc="300" noProof="1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01001000 01100101 01100001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kern="0" spc="300" noProof="1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11010010 00101101 01101011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kern="0" spc="300" noProof="1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00110101 11001010 01011100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kern="0" spc="300" noProof="1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10001111 00110110 10100001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kern="0" spc="300" noProof="1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01110010 11000101 00011010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kern="0" spc="300" noProof="1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01011110 10010011 01101000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kern="0" spc="300" noProof="1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11100100 01001011 10010110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kern="0" spc="300" noProof="1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00101001 10111000 01001101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kern="0" spc="300" noProof="1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10010110 01100011 10100100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kern="0" spc="300" noProof="1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01001110 10011010 00110001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kern="0" spc="300" noProof="1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10100011 01010110 11001001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kern="0" spc="300" noProof="1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01101000 00101110 10010101</a:t>
            </a:r>
            <a:endParaRPr lang="en-US" sz="1500" noProof="1"/>
          </a:p>
        </p:txBody>
      </p:sp>
      <p:sp>
        <p:nvSpPr>
          <p:cNvPr id="3" name="bitline"/>
          <p:cNvSpPr/>
          <p:nvPr/>
        </p:nvSpPr>
        <p:spPr>
          <a:xfrm>
            <a:off x="6731000" y="381000"/>
            <a:ext cx="25400" cy="60960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812800" y="1524000"/>
            <a:ext cx="584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noProof="1">
                <a:solidFill>
                  <a:srgbClr val="FF4D04"/>
                </a:solidFill>
                <a:latin typeface="微软雅黑"/>
                <a:ea typeface="微软雅黑"/>
              </a:rPr>
              <a:t>北京邮电大学 · 2026 网络空间安全课程设计</a:t>
            </a:r>
            <a:endParaRPr lang="en-US" sz="1500" noProof="1"/>
          </a:p>
          <a:p>
            <a:pPr algn="l">
              <a:lnSpc>
                <a:spcPct val="150000"/>
              </a:lnSpc>
            </a:pPr>
            <a:r>
              <a:rPr lang="en-US" sz="1500" b="1" noProof="1">
                <a:solidFill>
                  <a:srgbClr val="FF4D04"/>
                </a:solidFill>
                <a:latin typeface="微软雅黑"/>
                <a:ea typeface="微软雅黑"/>
              </a:rPr>
              <a:t>技术探索性题目</a:t>
            </a:r>
            <a:endParaRPr lang="en-US" sz="1500" noProof="1"/>
          </a:p>
        </p:txBody>
      </p:sp>
      <p:sp>
        <p:nvSpPr>
          <p:cNvPr id="5" name="accent-bar"/>
          <p:cNvSpPr/>
          <p:nvPr/>
        </p:nvSpPr>
        <p:spPr>
          <a:xfrm>
            <a:off x="812800" y="2311400"/>
            <a:ext cx="812800" cy="762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6" name="main-title"/>
          <p:cNvSpPr txBox="1"/>
          <p:nvPr/>
        </p:nvSpPr>
        <p:spPr>
          <a:xfrm>
            <a:off x="812800" y="2590800"/>
            <a:ext cx="5969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noProof="1">
                <a:solidFill>
                  <a:srgbClr val="1A287B"/>
                </a:solidFill>
                <a:latin typeface="微软雅黑"/>
                <a:ea typeface="微软雅黑"/>
              </a:rPr>
              <a:t>网络加密流量二进制分析</a:t>
            </a:r>
            <a:endParaRPr lang="en-US" sz="3800" noProof="1"/>
          </a:p>
        </p:txBody>
      </p:sp>
      <p:sp>
        <p:nvSpPr>
          <p:cNvPr id="7" name="sub-title"/>
          <p:cNvSpPr txBox="1"/>
          <p:nvPr/>
        </p:nvSpPr>
        <p:spPr>
          <a:xfrm>
            <a:off x="812800" y="3479800"/>
            <a:ext cx="5969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noProof="1">
                <a:solidFill>
                  <a:srgbClr val="5B6472"/>
                </a:solidFill>
                <a:latin typeface="微软雅黑"/>
                <a:ea typeface="微软雅黑"/>
              </a:rPr>
              <a:t>未知二进制比特流的特征分析、协议识别与数据还原</a:t>
            </a:r>
            <a:endParaRPr lang="en-US" sz="1900" noProof="1"/>
          </a:p>
        </p:txBody>
      </p:sp>
      <p:sp>
        <p:nvSpPr>
          <p:cNvPr id="8" name="date-line"/>
          <p:cNvSpPr txBox="1"/>
          <p:nvPr/>
        </p:nvSpPr>
        <p:spPr>
          <a:xfrm>
            <a:off x="812800" y="59690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5B6472"/>
                </a:solidFill>
                <a:latin typeface="微软雅黑"/>
                <a:ea typeface="微软雅黑"/>
              </a:rPr>
              <a:t>2026 年 9 月 12 日</a:t>
            </a:r>
            <a:endParaRPr lang="en-US" sz="1500" noProof="1"/>
          </a:p>
        </p:txBody>
      </p:sp>
      <p:sp>
        <p:nvSpPr>
          <p:cNvPr id="9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1 / 15</a:t>
            </a:r>
            <a:endParaRPr lang="en-US" sz="1200" noProof="1"/>
          </a:p>
        </p:txBody>
      </p:sp>
      <p:sp>
        <p:nvSpPr>
          <p:cNvPr id="10" name="member-line"/>
          <p:cNvSpPr txBox="1"/>
          <p:nvPr/>
        </p:nvSpPr>
        <p:spPr>
          <a:xfrm>
            <a:off x="812800" y="5511800"/>
            <a:ext cx="630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5B6472"/>
                </a:solidFill>
                <a:latin typeface="微软雅黑"/>
                <a:ea typeface="微软雅黑"/>
              </a:rPr>
              <a:t>张豪（组长）2024211553 · 裴晨 2024211554 · 李彦希 2024211552</a:t>
            </a:r>
            <a:endParaRPr lang="en-US" sz="15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1A287B"/>
                </a:solidFill>
                <a:latin typeface="微软雅黑"/>
                <a:ea typeface="微软雅黑"/>
              </a:rPr>
              <a:t>汇报路线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r1"/>
          <p:cNvSpPr/>
          <p:nvPr/>
        </p:nvSpPr>
        <p:spPr>
          <a:xfrm>
            <a:off x="762000" y="1524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6" name="r1-num"/>
          <p:cNvSpPr txBox="1"/>
          <p:nvPr/>
        </p:nvSpPr>
        <p:spPr>
          <a:xfrm>
            <a:off x="1066800" y="17526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noProof="1">
                <a:solidFill>
                  <a:srgbClr val="FF4D04"/>
                </a:solidFill>
                <a:latin typeface="微软雅黑"/>
                <a:ea typeface="微软雅黑"/>
              </a:rPr>
              <a:t>01</a:t>
            </a:r>
            <a:endParaRPr lang="en-US" sz="2800" noProof="1"/>
          </a:p>
        </p:txBody>
      </p:sp>
      <p:sp>
        <p:nvSpPr>
          <p:cNvPr id="7" name="r1-text"/>
          <p:cNvSpPr txBox="1"/>
          <p:nvPr/>
        </p:nvSpPr>
        <p:spPr>
          <a:xfrm>
            <a:off x="1905000" y="1752600"/>
            <a:ext cx="3937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题目理解与模块映射</a:t>
            </a:r>
            <a:endParaRPr lang="en-US" sz="1800" noProof="1"/>
          </a:p>
        </p:txBody>
      </p:sp>
      <p:sp>
        <p:nvSpPr>
          <p:cNvPr id="8" name="r2"/>
          <p:cNvSpPr/>
          <p:nvPr/>
        </p:nvSpPr>
        <p:spPr>
          <a:xfrm>
            <a:off x="6350000" y="1524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9" name="r2-num"/>
          <p:cNvSpPr txBox="1"/>
          <p:nvPr/>
        </p:nvSpPr>
        <p:spPr>
          <a:xfrm>
            <a:off x="6654800" y="17526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noProof="1">
                <a:solidFill>
                  <a:srgbClr val="FF4D04"/>
                </a:solidFill>
                <a:latin typeface="微软雅黑"/>
                <a:ea typeface="微软雅黑"/>
              </a:rPr>
              <a:t>02</a:t>
            </a:r>
            <a:endParaRPr lang="en-US" sz="2800" noProof="1"/>
          </a:p>
        </p:txBody>
      </p:sp>
      <p:sp>
        <p:nvSpPr>
          <p:cNvPr id="10" name="r2-text"/>
          <p:cNvSpPr txBox="1"/>
          <p:nvPr/>
        </p:nvSpPr>
        <p:spPr>
          <a:xfrm>
            <a:off x="7493000" y="1752600"/>
            <a:ext cx="3937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技术路线：M01–M12 分层管线</a:t>
            </a:r>
            <a:endParaRPr lang="en-US" sz="1800" noProof="1"/>
          </a:p>
        </p:txBody>
      </p:sp>
      <p:sp>
        <p:nvSpPr>
          <p:cNvPr id="11" name="r3"/>
          <p:cNvSpPr/>
          <p:nvPr/>
        </p:nvSpPr>
        <p:spPr>
          <a:xfrm>
            <a:off x="762000" y="3048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12" name="r3-num"/>
          <p:cNvSpPr txBox="1"/>
          <p:nvPr/>
        </p:nvSpPr>
        <p:spPr>
          <a:xfrm>
            <a:off x="1066800" y="32766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noProof="1">
                <a:solidFill>
                  <a:srgbClr val="FF4D04"/>
                </a:solidFill>
                <a:latin typeface="微软雅黑"/>
                <a:ea typeface="微软雅黑"/>
              </a:rPr>
              <a:t>03</a:t>
            </a:r>
            <a:endParaRPr lang="en-US" sz="2800" noProof="1"/>
          </a:p>
        </p:txBody>
      </p:sp>
      <p:sp>
        <p:nvSpPr>
          <p:cNvPr id="13" name="r3-text"/>
          <p:cNvSpPr txBox="1"/>
          <p:nvPr/>
        </p:nvSpPr>
        <p:spPr>
          <a:xfrm>
            <a:off x="1905000" y="3276600"/>
            <a:ext cx="3937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核心设计：证据链与信任链</a:t>
            </a:r>
            <a:endParaRPr lang="en-US" sz="1800" noProof="1"/>
          </a:p>
        </p:txBody>
      </p:sp>
      <p:sp>
        <p:nvSpPr>
          <p:cNvPr id="14" name="r4"/>
          <p:cNvSpPr/>
          <p:nvPr/>
        </p:nvSpPr>
        <p:spPr>
          <a:xfrm>
            <a:off x="6350000" y="3048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15" name="r4-num"/>
          <p:cNvSpPr txBox="1"/>
          <p:nvPr/>
        </p:nvSpPr>
        <p:spPr>
          <a:xfrm>
            <a:off x="6654800" y="32766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noProof="1">
                <a:solidFill>
                  <a:srgbClr val="FF4D04"/>
                </a:solidFill>
                <a:latin typeface="微软雅黑"/>
                <a:ea typeface="微软雅黑"/>
              </a:rPr>
              <a:t>04</a:t>
            </a:r>
            <a:endParaRPr lang="en-US" sz="2800" noProof="1"/>
          </a:p>
        </p:txBody>
      </p:sp>
      <p:sp>
        <p:nvSpPr>
          <p:cNvPr id="16" name="r4-text"/>
          <p:cNvSpPr txBox="1"/>
          <p:nvPr/>
        </p:nvSpPr>
        <p:spPr>
          <a:xfrm>
            <a:off x="7493000" y="3276600"/>
            <a:ext cx="3937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三条证据链实证</a:t>
            </a:r>
            <a:endParaRPr lang="en-US" sz="1800" noProof="1"/>
          </a:p>
        </p:txBody>
      </p:sp>
      <p:sp>
        <p:nvSpPr>
          <p:cNvPr id="17" name="r5"/>
          <p:cNvSpPr/>
          <p:nvPr/>
        </p:nvSpPr>
        <p:spPr>
          <a:xfrm>
            <a:off x="762000" y="4572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18" name="r5-num"/>
          <p:cNvSpPr txBox="1"/>
          <p:nvPr/>
        </p:nvSpPr>
        <p:spPr>
          <a:xfrm>
            <a:off x="1066800" y="48006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noProof="1">
                <a:solidFill>
                  <a:srgbClr val="FF4D04"/>
                </a:solidFill>
                <a:latin typeface="微软雅黑"/>
                <a:ea typeface="微软雅黑"/>
              </a:rPr>
              <a:t>05</a:t>
            </a:r>
            <a:endParaRPr lang="en-US" sz="2800" noProof="1"/>
          </a:p>
        </p:txBody>
      </p:sp>
      <p:sp>
        <p:nvSpPr>
          <p:cNvPr id="19" name="r5-text"/>
          <p:cNvSpPr txBox="1"/>
          <p:nvPr/>
        </p:nvSpPr>
        <p:spPr>
          <a:xfrm>
            <a:off x="1905000" y="4800600"/>
            <a:ext cx="3937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真实数据与外部评测</a:t>
            </a:r>
            <a:endParaRPr lang="en-US" sz="1800" noProof="1"/>
          </a:p>
        </p:txBody>
      </p:sp>
      <p:sp>
        <p:nvSpPr>
          <p:cNvPr id="20" name="r6"/>
          <p:cNvSpPr/>
          <p:nvPr/>
        </p:nvSpPr>
        <p:spPr>
          <a:xfrm>
            <a:off x="6350000" y="4572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21" name="r6-num"/>
          <p:cNvSpPr txBox="1"/>
          <p:nvPr/>
        </p:nvSpPr>
        <p:spPr>
          <a:xfrm>
            <a:off x="6654800" y="48006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noProof="1">
                <a:solidFill>
                  <a:srgbClr val="FF4D04"/>
                </a:solidFill>
                <a:latin typeface="微软雅黑"/>
                <a:ea typeface="微软雅黑"/>
              </a:rPr>
              <a:t>06</a:t>
            </a:r>
            <a:endParaRPr lang="en-US" sz="2800" noProof="1"/>
          </a:p>
        </p:txBody>
      </p:sp>
      <p:sp>
        <p:nvSpPr>
          <p:cNvPr id="22" name="r6-text"/>
          <p:cNvSpPr txBox="1"/>
          <p:nvPr/>
        </p:nvSpPr>
        <p:spPr>
          <a:xfrm>
            <a:off x="7493000" y="4800600"/>
            <a:ext cx="3937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独立验收与分工</a:t>
            </a:r>
            <a:endParaRPr lang="en-US" sz="1800" noProof="1"/>
          </a:p>
        </p:txBody>
      </p:sp>
      <p:sp>
        <p:nvSpPr>
          <p:cNvPr id="23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2 / 15</a:t>
            </a:r>
            <a:endParaRPr lang="en-US" sz="12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1A287B"/>
                </a:solidFill>
                <a:latin typeface="微软雅黑"/>
                <a:ea typeface="微软雅黑"/>
              </a:rPr>
              <a:t>题目七项要求 → 我们的模块映射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graphicFrame>
        <p:nvGraphicFramePr>
          <p:cNvPr id="5" name="map-table"/>
          <p:cNvGraphicFramePr>
            <a:graphicFrameLocks noGrp="1"/>
          </p:cNvGraphicFramePr>
          <p:nvPr/>
        </p:nvGraphicFramePr>
        <p:xfrm>
          <a:off x="762000" y="1320800"/>
          <a:ext cx="10668000" cy="4191000"/>
        </p:xfrm>
        <a:graphic>
          <a:graphicData uri="http://schemas.openxmlformats.org/drawingml/2006/table">
            <a:tbl>
              <a:tblPr/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1" noProof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题目要求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1" noProof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承担模块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特征分析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M02 字节特征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数据包识别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M01 包流记录 + M03 消息边界 + M07 协议识别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数据包对齐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M05 字节对齐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统计特征分析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M09 流量统计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明文提取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M08 受限恢复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访问行为分析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M10 行为规则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行为类型分析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M11 分类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foot-note"/>
          <p:cNvSpPr txBox="1"/>
          <p:nvPr/>
        </p:nvSpPr>
        <p:spPr>
          <a:xfrm>
            <a:off x="762000" y="5740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M01–M12 为本项目模块编号：M01 读取输入，M12 输出报告。测试要求：对未知 .dat 做协议解析识别与数据还原。</a:t>
            </a:r>
            <a:endParaRPr lang="en-US" sz="1400" noProof="1"/>
          </a:p>
        </p:txBody>
      </p:sp>
      <p:sp>
        <p:nvSpPr>
          <p:cNvPr id="7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3 / 15</a:t>
            </a:r>
            <a:endParaRPr lang="en-US" sz="12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1A287B"/>
                </a:solidFill>
                <a:latin typeface="微软雅黑"/>
                <a:ea typeface="微软雅黑"/>
              </a:rPr>
              <a:t>分层管线：从字节流到证据报告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row1-tag"/>
          <p:cNvSpPr/>
          <p:nvPr/>
        </p:nvSpPr>
        <p:spPr>
          <a:xfrm>
            <a:off x="508000" y="1320800"/>
            <a:ext cx="12192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6" name="row1-tag-t"/>
          <p:cNvSpPr txBox="1"/>
          <p:nvPr/>
        </p:nvSpPr>
        <p:spPr>
          <a:xfrm>
            <a:off x="508000" y="1320800"/>
            <a:ext cx="1219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1A287B"/>
                </a:solidFill>
                <a:latin typeface="微软雅黑"/>
                <a:ea typeface="微软雅黑"/>
              </a:rPr>
              <a:t>未知 .dat 线</a:t>
            </a:r>
            <a:endParaRPr lang="en-US" sz="1300" noProof="1"/>
          </a:p>
        </p:txBody>
      </p:sp>
      <p:sp>
        <p:nvSpPr>
          <p:cNvPr id="7" name="c-m01"/>
          <p:cNvSpPr/>
          <p:nvPr/>
        </p:nvSpPr>
        <p:spPr>
          <a:xfrm>
            <a:off x="1879600" y="1320800"/>
            <a:ext cx="14224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8" name="c-m01t"/>
          <p:cNvSpPr txBox="1"/>
          <p:nvPr/>
        </p:nvSpPr>
        <p:spPr>
          <a:xfrm>
            <a:off x="1879600" y="1320800"/>
            <a:ext cx="1422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FFFFFF"/>
                </a:solidFill>
                <a:latin typeface="微软雅黑"/>
                <a:ea typeface="微软雅黑"/>
              </a:rPr>
              <a:t>M01 输入探测</a:t>
            </a:r>
            <a:endParaRPr lang="en-US" sz="1400" noProof="1"/>
          </a:p>
        </p:txBody>
      </p:sp>
      <p:sp>
        <p:nvSpPr>
          <p:cNvPr id="9" name="a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eyJ2aWV3Qm94IjpbMTIsMl0sInBvaW50cyI6IjAsMSAxMiwxIn0</pptd:line>
              </p:ext>
            </p:extLst>
          </p:nvPr>
        </p:nvSpPr>
        <p:spPr>
          <a:xfrm>
            <a:off x="3340100" y="14986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0" name="c-m02"/>
          <p:cNvSpPr/>
          <p:nvPr/>
        </p:nvSpPr>
        <p:spPr>
          <a:xfrm>
            <a:off x="3530600" y="1320800"/>
            <a:ext cx="14224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11" name="c-m02t"/>
          <p:cNvSpPr txBox="1"/>
          <p:nvPr/>
        </p:nvSpPr>
        <p:spPr>
          <a:xfrm>
            <a:off x="3530600" y="1320800"/>
            <a:ext cx="1422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FFFFFF"/>
                </a:solidFill>
                <a:latin typeface="微软雅黑"/>
                <a:ea typeface="微软雅黑"/>
              </a:rPr>
              <a:t>M02 字节特征</a:t>
            </a:r>
            <a:endParaRPr lang="en-US" sz="1400" noProof="1"/>
          </a:p>
        </p:txBody>
      </p:sp>
      <p:sp>
        <p:nvSpPr>
          <p:cNvPr id="12" name="a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eyJ2aWV3Qm94IjpbMTIsMl0sInBvaW50cyI6IjAsMSAxMiwxIn0</pptd:line>
              </p:ext>
            </p:extLst>
          </p:nvPr>
        </p:nvSpPr>
        <p:spPr>
          <a:xfrm>
            <a:off x="4991100" y="14986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3" name="c-m03"/>
          <p:cNvSpPr/>
          <p:nvPr/>
        </p:nvSpPr>
        <p:spPr>
          <a:xfrm>
            <a:off x="5181600" y="1320800"/>
            <a:ext cx="14224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14" name="c-m03t"/>
          <p:cNvSpPr txBox="1"/>
          <p:nvPr/>
        </p:nvSpPr>
        <p:spPr>
          <a:xfrm>
            <a:off x="5181600" y="1320800"/>
            <a:ext cx="1422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FFFFFF"/>
                </a:solidFill>
                <a:latin typeface="微软雅黑"/>
                <a:ea typeface="微软雅黑"/>
              </a:rPr>
              <a:t>M03 分帧</a:t>
            </a:r>
            <a:endParaRPr lang="en-US" sz="1400" noProof="1"/>
          </a:p>
        </p:txBody>
      </p:sp>
      <p:sp>
        <p:nvSpPr>
          <p:cNvPr id="15" name="a3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eyJ2aWV3Qm94IjpbMTIsMl0sInBvaW50cyI6IjAsMSAxMiwxIn0</pptd:line>
              </p:ext>
            </p:extLst>
          </p:nvPr>
        </p:nvSpPr>
        <p:spPr>
          <a:xfrm>
            <a:off x="6642100" y="14986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6" name="c-m04"/>
          <p:cNvSpPr/>
          <p:nvPr/>
        </p:nvSpPr>
        <p:spPr>
          <a:xfrm>
            <a:off x="6832600" y="1320800"/>
            <a:ext cx="14224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17" name="c-m04t"/>
          <p:cNvSpPr txBox="1"/>
          <p:nvPr/>
        </p:nvSpPr>
        <p:spPr>
          <a:xfrm>
            <a:off x="6832600" y="1320800"/>
            <a:ext cx="1422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FFFFFF"/>
                </a:solidFill>
                <a:latin typeface="微软雅黑"/>
                <a:ea typeface="微软雅黑"/>
              </a:rPr>
              <a:t>M04 聚类</a:t>
            </a:r>
            <a:endParaRPr lang="en-US" sz="1400" noProof="1"/>
          </a:p>
        </p:txBody>
      </p:sp>
      <p:sp>
        <p:nvSpPr>
          <p:cNvPr id="18" name="a4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eyJ2aWV3Qm94IjpbMTIsMl0sInBvaW50cyI6IjAsMSAxMiwxIn0</pptd:line>
              </p:ext>
            </p:extLst>
          </p:nvPr>
        </p:nvSpPr>
        <p:spPr>
          <a:xfrm>
            <a:off x="8293100" y="14986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9" name="c-m05"/>
          <p:cNvSpPr/>
          <p:nvPr/>
        </p:nvSpPr>
        <p:spPr>
          <a:xfrm>
            <a:off x="8483600" y="1320800"/>
            <a:ext cx="14224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20" name="c-m05t"/>
          <p:cNvSpPr txBox="1"/>
          <p:nvPr/>
        </p:nvSpPr>
        <p:spPr>
          <a:xfrm>
            <a:off x="8483600" y="1320800"/>
            <a:ext cx="1422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FFFFFF"/>
                </a:solidFill>
                <a:latin typeface="微软雅黑"/>
                <a:ea typeface="微软雅黑"/>
              </a:rPr>
              <a:t>M05 对齐</a:t>
            </a:r>
            <a:endParaRPr lang="en-US" sz="1400" noProof="1"/>
          </a:p>
        </p:txBody>
      </p:sp>
      <p:sp>
        <p:nvSpPr>
          <p:cNvPr id="21" name="a5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eyJ2aWV3Qm94IjpbMTIsMl0sInBvaW50cyI6IjAsMSAxMiwxIn0</pptd:line>
              </p:ext>
            </p:extLst>
          </p:nvPr>
        </p:nvSpPr>
        <p:spPr>
          <a:xfrm>
            <a:off x="9944100" y="14986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22" name="c-m06"/>
          <p:cNvSpPr/>
          <p:nvPr/>
        </p:nvSpPr>
        <p:spPr>
          <a:xfrm>
            <a:off x="10134600" y="1320800"/>
            <a:ext cx="14224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23" name="c-m06t"/>
          <p:cNvSpPr txBox="1"/>
          <p:nvPr/>
        </p:nvSpPr>
        <p:spPr>
          <a:xfrm>
            <a:off x="10134600" y="1320800"/>
            <a:ext cx="1422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FFFFFF"/>
                </a:solidFill>
                <a:latin typeface="微软雅黑"/>
                <a:ea typeface="微软雅黑"/>
              </a:rPr>
              <a:t>M06 字段候选</a:t>
            </a:r>
            <a:endParaRPr lang="en-US" sz="1400" noProof="1"/>
          </a:p>
        </p:txBody>
      </p:sp>
      <p:sp>
        <p:nvSpPr>
          <p:cNvPr id="24" name="row2-tag"/>
          <p:cNvSpPr/>
          <p:nvPr/>
        </p:nvSpPr>
        <p:spPr>
          <a:xfrm>
            <a:off x="508000" y="1981200"/>
            <a:ext cx="12192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F4D04"/>
            </a:solidFill>
          </a:ln>
        </p:spPr>
      </p:sp>
      <p:sp>
        <p:nvSpPr>
          <p:cNvPr id="25" name="row2-tag-t"/>
          <p:cNvSpPr txBox="1"/>
          <p:nvPr/>
        </p:nvSpPr>
        <p:spPr>
          <a:xfrm>
            <a:off x="508000" y="1981200"/>
            <a:ext cx="1219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4D04"/>
                </a:solidFill>
                <a:latin typeface="微软雅黑"/>
                <a:ea typeface="微软雅黑"/>
              </a:rPr>
              <a:t>抓包</a:t>
            </a:r>
            <a:r>
              <a:rPr lang="zh-CN" altLang="en-US" sz="1300" b="1" noProof="1">
                <a:solidFill>
                  <a:srgbClr val="FF4D04"/>
                </a:solidFill>
                <a:latin typeface="微软雅黑"/>
                <a:ea typeface="微软雅黑"/>
              </a:rPr>
              <a:t>文件处理</a:t>
            </a:r>
            <a:r>
              <a:rPr lang="en-US" sz="1300" b="1" noProof="1">
                <a:solidFill>
                  <a:srgbClr val="FF4D04"/>
                </a:solidFill>
                <a:latin typeface="微软雅黑"/>
                <a:ea typeface="微软雅黑"/>
              </a:rPr>
              <a:t>线</a:t>
            </a:r>
            <a:endParaRPr lang="en-US" sz="1300" noProof="1"/>
          </a:p>
        </p:txBody>
      </p:sp>
      <p:sp>
        <p:nvSpPr>
          <p:cNvPr id="26" name="c-m07"/>
          <p:cNvSpPr/>
          <p:nvPr/>
        </p:nvSpPr>
        <p:spPr>
          <a:xfrm>
            <a:off x="1879600" y="1981200"/>
            <a:ext cx="177800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27" name="c-m07t"/>
          <p:cNvSpPr txBox="1"/>
          <p:nvPr/>
        </p:nvSpPr>
        <p:spPr>
          <a:xfrm>
            <a:off x="1879600" y="19812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M07 协议识别</a:t>
            </a:r>
            <a:endParaRPr lang="en-US" sz="1400" noProof="1"/>
          </a:p>
        </p:txBody>
      </p:sp>
      <p:sp>
        <p:nvSpPr>
          <p:cNvPr id="28" name="b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eyJ2aWV3Qm94IjpbMTIsMl0sInBvaW50cyI6IjAsMSAxMiwxIn0</pptd:line>
              </p:ext>
            </p:extLst>
          </p:nvPr>
        </p:nvSpPr>
        <p:spPr>
          <a:xfrm>
            <a:off x="3708400" y="21590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29" name="c-m09"/>
          <p:cNvSpPr/>
          <p:nvPr/>
        </p:nvSpPr>
        <p:spPr>
          <a:xfrm>
            <a:off x="3886200" y="1981200"/>
            <a:ext cx="177800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30" name="c-m09t"/>
          <p:cNvSpPr txBox="1"/>
          <p:nvPr/>
        </p:nvSpPr>
        <p:spPr>
          <a:xfrm>
            <a:off x="3886200" y="19812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M09 流量统计</a:t>
            </a:r>
            <a:endParaRPr lang="en-US" sz="1400" noProof="1"/>
          </a:p>
        </p:txBody>
      </p:sp>
      <p:sp>
        <p:nvSpPr>
          <p:cNvPr id="31" name="b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eyJ2aWV3Qm94IjpbMTIsMl0sInBvaW50cyI6IjAsMSAxMiwxIn0</pptd:line>
              </p:ext>
            </p:extLst>
          </p:nvPr>
        </p:nvSpPr>
        <p:spPr>
          <a:xfrm>
            <a:off x="5715000" y="21590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32" name="c-m10"/>
          <p:cNvSpPr/>
          <p:nvPr/>
        </p:nvSpPr>
        <p:spPr>
          <a:xfrm>
            <a:off x="5892800" y="1981200"/>
            <a:ext cx="177800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33" name="c-m10t"/>
          <p:cNvSpPr txBox="1"/>
          <p:nvPr/>
        </p:nvSpPr>
        <p:spPr>
          <a:xfrm>
            <a:off x="5892800" y="19812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M10 行为规则</a:t>
            </a:r>
            <a:endParaRPr lang="en-US" sz="1400" noProof="1"/>
          </a:p>
        </p:txBody>
      </p:sp>
      <p:sp>
        <p:nvSpPr>
          <p:cNvPr id="34" name="b3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eyJ2aWV3Qm94IjpbMTIsMl0sInBvaW50cyI6IjAsMSAxMiwxIn0</pptd:line>
              </p:ext>
            </p:extLst>
          </p:nvPr>
        </p:nvSpPr>
        <p:spPr>
          <a:xfrm>
            <a:off x="7721600" y="21590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35" name="c-m11"/>
          <p:cNvSpPr/>
          <p:nvPr/>
        </p:nvSpPr>
        <p:spPr>
          <a:xfrm>
            <a:off x="7899400" y="1981200"/>
            <a:ext cx="177800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36" name="c-m11t"/>
          <p:cNvSpPr txBox="1"/>
          <p:nvPr/>
        </p:nvSpPr>
        <p:spPr>
          <a:xfrm>
            <a:off x="7899400" y="19812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M11 分类</a:t>
            </a:r>
            <a:endParaRPr lang="en-US" sz="1400" noProof="1"/>
          </a:p>
        </p:txBody>
      </p:sp>
      <p:sp>
        <p:nvSpPr>
          <p:cNvPr id="37" name="join-v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eyJ2aWV3Qm94IjpbMiw3Nl0sInBvaW50cyI6IjEsMCAxLDc2In0</pptd:line>
              </p:ext>
            </p:extLst>
          </p:nvPr>
        </p:nvSpPr>
        <p:spPr>
          <a:xfrm>
            <a:off x="10833100" y="1701800"/>
            <a:ext cx="25400" cy="965200"/>
          </a:xfrm>
          <a:custGeom>
            <a:avLst/>
            <a:gdLst/>
            <a:ahLst/>
            <a:cxnLst/>
            <a:rect l="l" t="t" r="r" b="b"/>
            <a:pathLst>
              <a:path w="2" h="76">
                <a:moveTo>
                  <a:pt x="1" y="0"/>
                </a:moveTo>
                <a:lnTo>
                  <a:pt x="1" y="76"/>
                </a:lnTo>
              </a:path>
            </a:pathLst>
          </a:custGeom>
          <a:noFill/>
          <a:ln w="25400" cap="rnd">
            <a:solidFill>
              <a:srgbClr val="5B6472"/>
            </a:solidFill>
            <a:round/>
          </a:ln>
        </p:spPr>
      </p:sp>
      <p:sp>
        <p:nvSpPr>
          <p:cNvPr id="38" name="join-v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eyJ2aWV3Qm94IjpbMiwyNF0sInBvaW50cyI6IjEsMCAxLDI0In0</pptd:line>
              </p:ext>
            </p:extLst>
          </p:nvPr>
        </p:nvSpPr>
        <p:spPr>
          <a:xfrm>
            <a:off x="8775700" y="2362200"/>
            <a:ext cx="25400" cy="304800"/>
          </a:xfrm>
          <a:custGeom>
            <a:avLst/>
            <a:gdLst/>
            <a:ahLst/>
            <a:cxnLst/>
            <a:rect l="l" t="t" r="r" b="b"/>
            <a:pathLst>
              <a:path w="2" h="24">
                <a:moveTo>
                  <a:pt x="1" y="0"/>
                </a:moveTo>
                <a:lnTo>
                  <a:pt x="1" y="24"/>
                </a:lnTo>
              </a:path>
            </a:pathLst>
          </a:custGeom>
          <a:noFill/>
          <a:ln w="25400" cap="rnd">
            <a:solidFill>
              <a:srgbClr val="5B6472"/>
            </a:solidFill>
            <a:round/>
          </a:ln>
        </p:spPr>
      </p:sp>
      <p:sp>
        <p:nvSpPr>
          <p:cNvPr id="39" name="join-h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eyJ2aWV3Qm94IjpbMTYyLDJdLCJwb2ludHMiOiIwLDEgMTYyLDEifQ</pptd:line>
              </p:ext>
            </p:extLst>
          </p:nvPr>
        </p:nvSpPr>
        <p:spPr>
          <a:xfrm>
            <a:off x="8788400" y="2654300"/>
            <a:ext cx="2057400" cy="25400"/>
          </a:xfrm>
          <a:custGeom>
            <a:avLst/>
            <a:gdLst/>
            <a:ahLst/>
            <a:cxnLst/>
            <a:rect l="l" t="t" r="r" b="b"/>
            <a:pathLst>
              <a:path w="162" h="2">
                <a:moveTo>
                  <a:pt x="0" y="1"/>
                </a:moveTo>
                <a:lnTo>
                  <a:pt x="162" y="1"/>
                </a:lnTo>
              </a:path>
            </a:pathLst>
          </a:custGeom>
          <a:noFill/>
          <a:ln w="25400" cap="rnd">
            <a:solidFill>
              <a:srgbClr val="5B6472"/>
            </a:solidFill>
            <a:round/>
          </a:ln>
        </p:spPr>
      </p:sp>
      <p:sp>
        <p:nvSpPr>
          <p:cNvPr id="40" name="join-down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eyJ2aWV3Qm94IjpbMiwyNF0sInBvaW50cyI6IjEsMCAxLDI0In0</pptd:line>
              </p:ext>
            </p:extLst>
          </p:nvPr>
        </p:nvSpPr>
        <p:spPr>
          <a:xfrm>
            <a:off x="9804400" y="2667000"/>
            <a:ext cx="25400" cy="304800"/>
          </a:xfrm>
          <a:custGeom>
            <a:avLst/>
            <a:gdLst/>
            <a:ahLst/>
            <a:cxnLst/>
            <a:rect l="l" t="t" r="r" b="b"/>
            <a:pathLst>
              <a:path w="2" h="24">
                <a:moveTo>
                  <a:pt x="1" y="0"/>
                </a:moveTo>
                <a:lnTo>
                  <a:pt x="1" y="24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41" name="c-m12"/>
          <p:cNvSpPr/>
          <p:nvPr/>
        </p:nvSpPr>
        <p:spPr>
          <a:xfrm>
            <a:off x="7112000" y="2997200"/>
            <a:ext cx="3810000" cy="508000"/>
          </a:xfrm>
          <a:prstGeom prst="roundRect">
            <a:avLst>
              <a:gd name="adj" fmla="val 24000"/>
            </a:avLst>
          </a:prstGeom>
          <a:solidFill>
            <a:srgbClr val="FF4D04"/>
          </a:solidFill>
          <a:ln>
            <a:noFill/>
          </a:ln>
        </p:spPr>
      </p:sp>
      <p:sp>
        <p:nvSpPr>
          <p:cNvPr id="42" name="c-m12t"/>
          <p:cNvSpPr txBox="1"/>
          <p:nvPr/>
        </p:nvSpPr>
        <p:spPr>
          <a:xfrm>
            <a:off x="7112000" y="29972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 noProof="1">
                <a:solidFill>
                  <a:srgbClr val="FFFFFF"/>
                </a:solidFill>
                <a:latin typeface="微软雅黑"/>
                <a:ea typeface="微软雅黑"/>
              </a:rPr>
              <a:t>M12 证据报告</a:t>
            </a:r>
            <a:endParaRPr lang="en-US" sz="1700" noProof="1"/>
          </a:p>
        </p:txBody>
      </p:sp>
      <p:sp>
        <p:nvSpPr>
          <p:cNvPr id="43" name="pt1-sq"/>
          <p:cNvSpPr/>
          <p:nvPr/>
        </p:nvSpPr>
        <p:spPr>
          <a:xfrm>
            <a:off x="762000" y="40132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4" name="pt1"/>
          <p:cNvSpPr txBox="1"/>
          <p:nvPr/>
        </p:nvSpPr>
        <p:spPr>
          <a:xfrm>
            <a:off x="1041400" y="38608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每个结论可回溯三步：原始字节位置、生成参数、中间结果 SHA-256</a:t>
            </a:r>
            <a:endParaRPr lang="en-US" sz="1800" noProof="1"/>
          </a:p>
        </p:txBody>
      </p:sp>
      <p:sp>
        <p:nvSpPr>
          <p:cNvPr id="45" name="pt2-sq"/>
          <p:cNvSpPr/>
          <p:nvPr/>
        </p:nvSpPr>
        <p:spPr>
          <a:xfrm>
            <a:off x="762000" y="46228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6" name="pt2"/>
          <p:cNvSpPr txBox="1"/>
          <p:nvPr/>
        </p:nvSpPr>
        <p:spPr>
          <a:xfrm>
            <a:off x="1041400" y="44704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模块可单独运行，也可整链运行</a:t>
            </a:r>
            <a:endParaRPr lang="en-US" sz="1800" noProof="1"/>
          </a:p>
        </p:txBody>
      </p:sp>
      <p:sp>
        <p:nvSpPr>
          <p:cNvPr id="47" name="pt3-sq"/>
          <p:cNvSpPr/>
          <p:nvPr/>
        </p:nvSpPr>
        <p:spPr>
          <a:xfrm>
            <a:off x="762000" y="52324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8" name="pt3"/>
          <p:cNvSpPr txBox="1"/>
          <p:nvPr/>
        </p:nvSpPr>
        <p:spPr>
          <a:xfrm>
            <a:off x="1041400" y="50800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分析阶段不读真值、不读标签</a:t>
            </a:r>
            <a:endParaRPr lang="en-US" sz="1800" noProof="1"/>
          </a:p>
        </p:txBody>
      </p:sp>
      <p:sp>
        <p:nvSpPr>
          <p:cNvPr id="49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4 / 15</a:t>
            </a:r>
            <a:endParaRPr lang="en-US" sz="1200" noProof="1"/>
          </a:p>
        </p:txBody>
      </p:sp>
      <p:sp>
        <p:nvSpPr>
          <p:cNvPr id="100" name="row3-tag"/>
          <p:cNvSpPr/>
          <p:nvPr/>
        </p:nvSpPr>
        <p:spPr>
          <a:xfrm>
            <a:off x="508000" y="3060700"/>
            <a:ext cx="12192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F4D04"/>
            </a:solidFill>
          </a:ln>
        </p:spPr>
      </p:sp>
      <p:sp>
        <p:nvSpPr>
          <p:cNvPr id="101" name="row3-tag-t"/>
          <p:cNvSpPr txBox="1"/>
          <p:nvPr/>
        </p:nvSpPr>
        <p:spPr>
          <a:xfrm>
            <a:off x="508000" y="3060700"/>
            <a:ext cx="1219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4D04"/>
                </a:solidFill>
                <a:latin typeface="微软雅黑"/>
                <a:ea typeface="微软雅黑"/>
              </a:rPr>
              <a:t>恢复线</a:t>
            </a:r>
            <a:endParaRPr lang="en-US" sz="1300" noProof="1"/>
          </a:p>
        </p:txBody>
      </p:sp>
      <p:sp>
        <p:nvSpPr>
          <p:cNvPr id="102" name="c-m08"/>
          <p:cNvSpPr/>
          <p:nvPr/>
        </p:nvSpPr>
        <p:spPr>
          <a:xfrm>
            <a:off x="1879600" y="3060700"/>
            <a:ext cx="177800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03" name="c-m08t"/>
          <p:cNvSpPr txBox="1"/>
          <p:nvPr/>
        </p:nvSpPr>
        <p:spPr>
          <a:xfrm>
            <a:off x="1879600" y="30607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M08 受限恢复</a:t>
            </a:r>
            <a:endParaRPr lang="en-US" sz="1400" noProof="1"/>
          </a:p>
        </p:txBody>
      </p:sp>
      <p:sp>
        <p:nvSpPr>
          <p:cNvPr id="104" name="b-m08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eyJ2aWV3Qm94IjpbMTIsMl0sInBvaW50cyI6IjAsMSAxMiwxIn0</pptd:line>
              </p:ext>
            </p:extLst>
          </p:nvPr>
        </p:nvSpPr>
        <p:spPr>
          <a:xfrm>
            <a:off x="3708400" y="3238500"/>
            <a:ext cx="33782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1A287B"/>
                </a:solidFill>
                <a:latin typeface="微软雅黑"/>
                <a:ea typeface="微软雅黑"/>
              </a:rPr>
              <a:t>每个结论都可回溯到字节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trust-label"/>
          <p:cNvSpPr txBox="1"/>
          <p:nvPr/>
        </p:nvSpPr>
        <p:spPr>
          <a:xfrm>
            <a:off x="762000" y="12192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noProof="1">
                <a:solidFill>
                  <a:srgbClr val="1A287B"/>
                </a:solidFill>
                <a:latin typeface="微软雅黑"/>
                <a:ea typeface="微软雅黑"/>
              </a:rPr>
              <a:t>信任链</a:t>
            </a:r>
            <a:endParaRPr lang="en-US" sz="1900" noProof="1"/>
          </a:p>
        </p:txBody>
      </p:sp>
      <p:sp>
        <p:nvSpPr>
          <p:cNvPr id="6" name="n1"/>
          <p:cNvSpPr/>
          <p:nvPr/>
        </p:nvSpPr>
        <p:spPr>
          <a:xfrm>
            <a:off x="571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7" name="n1t"/>
          <p:cNvSpPr txBox="1"/>
          <p:nvPr/>
        </p:nvSpPr>
        <p:spPr>
          <a:xfrm>
            <a:off x="571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输入</a:t>
            </a:r>
            <a:endParaRPr lang="en-US" sz="1400" noProof="1"/>
          </a:p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SHA-256</a:t>
            </a:r>
            <a:endParaRPr lang="en-US" sz="1400" noProof="1"/>
          </a:p>
        </p:txBody>
      </p:sp>
      <p:sp>
        <p:nvSpPr>
          <p:cNvPr id="8" name="na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eyJ2aWV3Qm94IjpbMjQsMl0sInBvaW50cyI6IjAsMSAyNCwxIn0</pptd:line>
              </p:ext>
            </p:extLst>
          </p:nvPr>
        </p:nvSpPr>
        <p:spPr>
          <a:xfrm>
            <a:off x="2514600" y="2057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9" name="n2"/>
          <p:cNvSpPr/>
          <p:nvPr/>
        </p:nvSpPr>
        <p:spPr>
          <a:xfrm>
            <a:off x="2857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0" name="n2t"/>
          <p:cNvSpPr txBox="1"/>
          <p:nvPr/>
        </p:nvSpPr>
        <p:spPr>
          <a:xfrm>
            <a:off x="2857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每一步输出</a:t>
            </a:r>
            <a:endParaRPr lang="en-US" sz="1400" noProof="1"/>
          </a:p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的哈希</a:t>
            </a:r>
            <a:endParaRPr lang="en-US" sz="1400" noProof="1"/>
          </a:p>
        </p:txBody>
      </p:sp>
      <p:sp>
        <p:nvSpPr>
          <p:cNvPr id="11" name="na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eyJ2aWV3Qm94IjpbMjQsMl0sInBvaW50cyI6IjAsMSAyNCwxIn0</pptd:line>
              </p:ext>
            </p:extLst>
          </p:nvPr>
        </p:nvSpPr>
        <p:spPr>
          <a:xfrm>
            <a:off x="4800600" y="2057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2" name="n3"/>
          <p:cNvSpPr/>
          <p:nvPr/>
        </p:nvSpPr>
        <p:spPr>
          <a:xfrm>
            <a:off x="5143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3" name="n3t"/>
          <p:cNvSpPr txBox="1"/>
          <p:nvPr/>
        </p:nvSpPr>
        <p:spPr>
          <a:xfrm>
            <a:off x="5143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原始文件</a:t>
            </a:r>
            <a:endParaRPr lang="en-US" sz="1400" noProof="1"/>
          </a:p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字节范围</a:t>
            </a:r>
            <a:endParaRPr lang="en-US" sz="1400" noProof="1"/>
          </a:p>
        </p:txBody>
      </p:sp>
      <p:sp>
        <p:nvSpPr>
          <p:cNvPr id="14" name="na3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eyJ2aWV3Qm94IjpbMjQsMl0sInBvaW50cyI6IjAsMSAyNCwxIn0</pptd:line>
              </p:ext>
            </p:extLst>
          </p:nvPr>
        </p:nvSpPr>
        <p:spPr>
          <a:xfrm>
            <a:off x="7086600" y="2057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5" name="n4"/>
          <p:cNvSpPr/>
          <p:nvPr/>
        </p:nvSpPr>
        <p:spPr>
          <a:xfrm>
            <a:off x="7429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6" name="n4t"/>
          <p:cNvSpPr txBox="1"/>
          <p:nvPr/>
        </p:nvSpPr>
        <p:spPr>
          <a:xfrm>
            <a:off x="7429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恢复 / 分类</a:t>
            </a:r>
            <a:endParaRPr lang="en-US" sz="1400" noProof="1"/>
          </a:p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报告产物</a:t>
            </a:r>
            <a:endParaRPr lang="en-US" sz="1400" noProof="1"/>
          </a:p>
        </p:txBody>
      </p:sp>
      <p:sp>
        <p:nvSpPr>
          <p:cNvPr id="17" name="na4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eyJ2aWV3Qm94IjpbMjQsMl0sInBvaW50cyI6IjAsMSAyNCwxIn0</pptd:line>
              </p:ext>
            </p:extLst>
          </p:nvPr>
        </p:nvSpPr>
        <p:spPr>
          <a:xfrm>
            <a:off x="9372600" y="2057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8" name="n5"/>
          <p:cNvSpPr/>
          <p:nvPr/>
        </p:nvSpPr>
        <p:spPr>
          <a:xfrm>
            <a:off x="9715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4D04"/>
          </a:solidFill>
          <a:ln>
            <a:noFill/>
          </a:ln>
        </p:spPr>
      </p:sp>
      <p:sp>
        <p:nvSpPr>
          <p:cNvPr id="19" name="n5t"/>
          <p:cNvSpPr txBox="1"/>
          <p:nvPr/>
        </p:nvSpPr>
        <p:spPr>
          <a:xfrm>
            <a:off x="9715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FFFFFF"/>
                </a:solidFill>
                <a:latin typeface="微软雅黑"/>
                <a:ea typeface="微软雅黑"/>
              </a:rPr>
              <a:t>独立验收脚本</a:t>
            </a:r>
            <a:endParaRPr lang="en-US" sz="1400" noProof="1"/>
          </a:p>
        </p:txBody>
      </p:sp>
      <p:sp>
        <p:nvSpPr>
          <p:cNvPr id="20" name="chains-label"/>
          <p:cNvSpPr txBox="1"/>
          <p:nvPr/>
        </p:nvSpPr>
        <p:spPr>
          <a:xfrm>
            <a:off x="762000" y="2971800"/>
            <a:ext cx="4064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noProof="1">
                <a:solidFill>
                  <a:srgbClr val="1A287B"/>
                </a:solidFill>
                <a:latin typeface="微软雅黑"/>
                <a:ea typeface="微软雅黑"/>
              </a:rPr>
              <a:t>三条互不冒充的证据链</a:t>
            </a:r>
            <a:endParaRPr lang="en-US" sz="1900" noProof="1"/>
          </a:p>
        </p:txBody>
      </p:sp>
      <p:sp>
        <p:nvSpPr>
          <p:cNvPr id="21" name="k1"/>
          <p:cNvSpPr/>
          <p:nvPr/>
        </p:nvSpPr>
        <p:spPr>
          <a:xfrm>
            <a:off x="762000" y="34544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22" name="k1-bar"/>
          <p:cNvSpPr/>
          <p:nvPr/>
        </p:nvSpPr>
        <p:spPr>
          <a:xfrm>
            <a:off x="762000" y="3454400"/>
            <a:ext cx="3556000" cy="50800"/>
          </a:xfrm>
          <a:prstGeom prst="rect">
            <a:avLst/>
          </a:prstGeom>
          <a:solidFill>
            <a:srgbClr val="1A287B"/>
          </a:solidFill>
          <a:ln>
            <a:noFill/>
          </a:ln>
        </p:spPr>
      </p:sp>
      <p:sp>
        <p:nvSpPr>
          <p:cNvPr id="23" name="k1-title"/>
          <p:cNvSpPr txBox="1"/>
          <p:nvPr/>
        </p:nvSpPr>
        <p:spPr>
          <a:xfrm>
            <a:off x="1016000" y="36830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未知 .dat 结构推断</a:t>
            </a:r>
            <a:endParaRPr lang="en-US" sz="1800" noProof="1"/>
          </a:p>
        </p:txBody>
      </p:sp>
      <p:sp>
        <p:nvSpPr>
          <p:cNvPr id="24" name="k1-body"/>
          <p:cNvSpPr txBox="1"/>
          <p:nvPr/>
        </p:nvSpPr>
        <p:spPr>
          <a:xfrm>
            <a:off x="1016000" y="41402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5B6472"/>
                </a:solidFill>
                <a:latin typeface="微软雅黑"/>
                <a:ea typeface="微软雅黑"/>
              </a:rPr>
              <a:t>结构推断是</a:t>
            </a:r>
            <a:r>
              <a:rPr lang="en-US" sz="1800" b="1" noProof="1">
                <a:solidFill>
                  <a:srgbClr val="FF4D04"/>
                </a:solidFill>
                <a:latin typeface="微软雅黑"/>
                <a:ea typeface="微软雅黑"/>
              </a:rPr>
              <a:t>候选假设</a:t>
            </a:r>
            <a:endParaRPr lang="en-US" sz="1800" noProof="1"/>
          </a:p>
        </p:txBody>
      </p:sp>
      <p:sp>
        <p:nvSpPr>
          <p:cNvPr id="25" name="k2"/>
          <p:cNvSpPr/>
          <p:nvPr/>
        </p:nvSpPr>
        <p:spPr>
          <a:xfrm>
            <a:off x="4445000" y="34544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26" name="k2-bar"/>
          <p:cNvSpPr/>
          <p:nvPr/>
        </p:nvSpPr>
        <p:spPr>
          <a:xfrm>
            <a:off x="4445000" y="3454400"/>
            <a:ext cx="35560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27" name="k2-title"/>
          <p:cNvSpPr txBox="1"/>
          <p:nvPr/>
        </p:nvSpPr>
        <p:spPr>
          <a:xfrm>
            <a:off x="4699000" y="36830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受限数据恢复</a:t>
            </a:r>
            <a:endParaRPr lang="en-US" sz="1800" noProof="1"/>
          </a:p>
        </p:txBody>
      </p:sp>
      <p:sp>
        <p:nvSpPr>
          <p:cNvPr id="28" name="k2-body"/>
          <p:cNvSpPr txBox="1"/>
          <p:nvPr/>
        </p:nvSpPr>
        <p:spPr>
          <a:xfrm>
            <a:off x="4699000" y="41402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5B6472"/>
                </a:solidFill>
                <a:latin typeface="微软雅黑"/>
                <a:ea typeface="微软雅黑"/>
              </a:rPr>
              <a:t>完整性校验通过才算数</a:t>
            </a:r>
            <a:endParaRPr lang="en-US" sz="1800" noProof="1"/>
          </a:p>
        </p:txBody>
      </p:sp>
      <p:sp>
        <p:nvSpPr>
          <p:cNvPr id="29" name="k3"/>
          <p:cNvSpPr/>
          <p:nvPr/>
        </p:nvSpPr>
        <p:spPr>
          <a:xfrm>
            <a:off x="8128000" y="34544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30" name="k3-bar"/>
          <p:cNvSpPr/>
          <p:nvPr/>
        </p:nvSpPr>
        <p:spPr>
          <a:xfrm>
            <a:off x="8128000" y="3454400"/>
            <a:ext cx="3556000" cy="50800"/>
          </a:xfrm>
          <a:prstGeom prst="rect">
            <a:avLst/>
          </a:prstGeom>
          <a:solidFill>
            <a:srgbClr val="1A287B"/>
          </a:solidFill>
          <a:ln>
            <a:noFill/>
          </a:ln>
        </p:spPr>
      </p:sp>
      <p:sp>
        <p:nvSpPr>
          <p:cNvPr id="31" name="k3-title"/>
          <p:cNvSpPr txBox="1"/>
          <p:nvPr/>
        </p:nvSpPr>
        <p:spPr>
          <a:xfrm>
            <a:off x="8382000" y="3683000"/>
            <a:ext cx="3048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抓包协议识别与访问行为</a:t>
            </a:r>
            <a:endParaRPr lang="en-US" sz="1800" noProof="1"/>
          </a:p>
        </p:txBody>
      </p:sp>
      <p:sp>
        <p:nvSpPr>
          <p:cNvPr id="32" name="k3-body"/>
          <p:cNvSpPr txBox="1"/>
          <p:nvPr/>
        </p:nvSpPr>
        <p:spPr>
          <a:xfrm>
            <a:off x="8382000" y="4470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5B6472"/>
                </a:solidFill>
                <a:latin typeface="微软雅黑"/>
                <a:ea typeface="微软雅黑"/>
              </a:rPr>
              <a:t>只报工具实际可见字段</a:t>
            </a:r>
            <a:endParaRPr lang="en-US" sz="1800" noProof="1"/>
          </a:p>
        </p:txBody>
      </p:sp>
      <p:sp>
        <p:nvSpPr>
          <p:cNvPr id="33" name="foot-note"/>
          <p:cNvSpPr txBox="1"/>
          <p:nvPr/>
        </p:nvSpPr>
        <p:spPr>
          <a:xfrm>
            <a:off x="762000" y="5740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边界清楚，是本项目最主要的设计取舍。</a:t>
            </a:r>
            <a:endParaRPr lang="en-US" sz="1400" noProof="1"/>
          </a:p>
        </p:txBody>
      </p:sp>
      <p:sp>
        <p:nvSpPr>
          <p:cNvPr id="34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5 / 15</a:t>
            </a:r>
            <a:endParaRPr lang="en-US" sz="12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1A287B"/>
                </a:solidFill>
                <a:latin typeface="微软雅黑"/>
                <a:ea typeface="微软雅黑"/>
              </a:rPr>
              <a:t>分帧规则</a:t>
            </a:r>
            <a:r>
              <a:rPr lang="zh-CN" altLang="en-US" sz="2600" b="1" noProof="1">
                <a:solidFill>
                  <a:srgbClr val="1A287B"/>
                </a:solidFill>
                <a:latin typeface="微软雅黑"/>
                <a:ea typeface="微软雅黑"/>
              </a:rPr>
              <a:t>自动</a:t>
            </a:r>
            <a:r>
              <a:rPr lang="en-US" sz="2600" b="1" noProof="1">
                <a:solidFill>
                  <a:srgbClr val="1A287B"/>
                </a:solidFill>
                <a:latin typeface="微软雅黑"/>
                <a:ea typeface="微软雅黑"/>
              </a:rPr>
              <a:t>推</a:t>
            </a:r>
            <a:r>
              <a:rPr lang="zh-CN" altLang="en-US" sz="2600" b="1" noProof="1">
                <a:solidFill>
                  <a:srgbClr val="1A287B"/>
                </a:solidFill>
                <a:latin typeface="微软雅黑"/>
                <a:ea typeface="微软雅黑"/>
              </a:rPr>
              <a:t>断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input-info"/>
          <p:cNvSpPr txBox="1"/>
          <p:nvPr/>
        </p:nvSpPr>
        <p:spPr>
          <a:xfrm>
            <a:off x="762000" y="1219200"/>
            <a:ext cx="10922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输入：</a:t>
            </a: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testdata.dat，8469 字节</a:t>
            </a:r>
            <a:endParaRPr lang="en-US" sz="1800" noProof="1"/>
          </a:p>
          <a:p>
            <a:pPr algn="l">
              <a:lnSpc>
                <a:spcPct val="145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扩展名不提供任何格式信息</a:t>
            </a:r>
            <a:endParaRPr lang="en-US" sz="1800" noProof="1"/>
          </a:p>
        </p:txBody>
      </p:sp>
      <p:sp>
        <p:nvSpPr>
          <p:cNvPr id="6" name="infer-label"/>
          <p:cNvSpPr txBox="1"/>
          <p:nvPr/>
        </p:nvSpPr>
        <p:spPr>
          <a:xfrm>
            <a:off x="762000" y="21336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noProof="1">
                <a:solidFill>
                  <a:srgbClr val="1A287B"/>
                </a:solidFill>
                <a:latin typeface="微软雅黑"/>
                <a:ea typeface="微软雅黑"/>
              </a:rPr>
              <a:t>自动推断结果</a:t>
            </a:r>
            <a:endParaRPr lang="en-US" sz="1900" noProof="1"/>
          </a:p>
        </p:txBody>
      </p:sp>
      <p:sp>
        <p:nvSpPr>
          <p:cNvPr id="7" name="f1-sq"/>
          <p:cNvSpPr/>
          <p:nvPr/>
        </p:nvSpPr>
        <p:spPr>
          <a:xfrm>
            <a:off x="762000" y="27051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8" name="f1"/>
          <p:cNvSpPr txBox="1"/>
          <p:nvPr/>
        </p:nvSpPr>
        <p:spPr>
          <a:xfrm>
            <a:off x="1041400" y="25527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长度字段偏移 4、宽度 1 字节、大端</a:t>
            </a:r>
            <a:endParaRPr lang="en-US" sz="1800" noProof="1"/>
          </a:p>
        </p:txBody>
      </p:sp>
      <p:sp>
        <p:nvSpPr>
          <p:cNvPr id="9" name="f2-sq"/>
          <p:cNvSpPr/>
          <p:nvPr/>
        </p:nvSpPr>
        <p:spPr>
          <a:xfrm>
            <a:off x="762000" y="32639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0" name="f2"/>
          <p:cNvSpPr txBox="1"/>
          <p:nvPr/>
        </p:nvSpPr>
        <p:spPr>
          <a:xfrm>
            <a:off x="1041400" y="31115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12 字节头 + 载荷长度模式</a:t>
            </a:r>
            <a:endParaRPr lang="en-US" sz="1800" noProof="1"/>
          </a:p>
        </p:txBody>
      </p:sp>
      <p:sp>
        <p:nvSpPr>
          <p:cNvPr id="11" name="f3-sq"/>
          <p:cNvSpPr/>
          <p:nvPr/>
        </p:nvSpPr>
        <p:spPr>
          <a:xfrm>
            <a:off x="762000" y="38227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2" name="f3"/>
          <p:cNvSpPr txBox="1"/>
          <p:nvPr/>
        </p:nvSpPr>
        <p:spPr>
          <a:xfrm>
            <a:off x="1041400" y="36703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切出 96 条消息，剩余未解析区间 0 段</a:t>
            </a:r>
            <a:endParaRPr lang="en-US" sz="1800" noProof="1"/>
          </a:p>
          <a:p>
            <a:pPr algn="l">
              <a:lnSpc>
                <a:spcPct val="150000"/>
              </a:lnSpc>
            </a:pPr>
            <a:r>
              <a:rPr lang="en-US" sz="1800" b="0" noProof="1">
                <a:solidFill>
                  <a:srgbClr val="1F2937"/>
                </a:solidFill>
                <a:latin typeface="微软雅黑"/>
                <a:ea typeface="微软雅黑"/>
              </a:rPr>
              <a:t>同源对照：上游来源规则切出 </a:t>
            </a:r>
            <a:r>
              <a:rPr lang="en-US" sz="1800" b="1" noProof="1">
                <a:solidFill>
                  <a:srgbClr val="FF4D04"/>
                </a:solidFill>
                <a:latin typeface="微软雅黑"/>
                <a:ea typeface="微软雅黑"/>
              </a:rPr>
              <a:t>15 条记录</a:t>
            </a:r>
            <a:r>
              <a:rPr lang="en-US" sz="1800" b="0" noProof="1">
                <a:solidFill>
                  <a:srgbClr val="1F2937"/>
                </a:solidFill>
                <a:latin typeface="微软雅黑"/>
                <a:ea typeface="微软雅黑"/>
              </a:rPr>
              <a:t>，两种切法都铺满全文件</a:t>
            </a:r>
            <a:endParaRPr lang="en-US" sz="1800" noProof="1"/>
          </a:p>
        </p:txBody>
      </p:sp>
      <p:sp>
        <p:nvSpPr>
          <p:cNvPr id="13" name="chain-label"/>
          <p:cNvSpPr txBox="1"/>
          <p:nvPr/>
        </p:nvSpPr>
        <p:spPr>
          <a:xfrm>
            <a:off x="762000" y="4368800"/>
            <a:ext cx="127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1A287B"/>
                </a:solidFill>
                <a:latin typeface="微软雅黑"/>
                <a:ea typeface="微软雅黑"/>
              </a:rPr>
              <a:t>链路</a:t>
            </a:r>
            <a:endParaRPr lang="en-US" sz="1700" noProof="1"/>
          </a:p>
        </p:txBody>
      </p:sp>
      <p:sp>
        <p:nvSpPr>
          <p:cNvPr id="14" name="lc1"/>
          <p:cNvSpPr/>
          <p:nvPr/>
        </p:nvSpPr>
        <p:spPr>
          <a:xfrm>
            <a:off x="762000" y="4775200"/>
            <a:ext cx="13208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15" name="lc1t"/>
          <p:cNvSpPr txBox="1"/>
          <p:nvPr/>
        </p:nvSpPr>
        <p:spPr>
          <a:xfrm>
            <a:off x="762000" y="4775200"/>
            <a:ext cx="13208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/>
                <a:ea typeface="微软雅黑"/>
              </a:rPr>
              <a:t>M01 探测</a:t>
            </a:r>
            <a:endParaRPr lang="en-US" sz="1300" noProof="1"/>
          </a:p>
        </p:txBody>
      </p:sp>
      <p:sp>
        <p:nvSpPr>
          <p:cNvPr id="16" name="la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eyJ2aWV3Qm94IjpbMTAsMl0sInBvaW50cyI6IjAsMSAxMCwxIn0</pptd:line>
              </p:ext>
            </p:extLst>
          </p:nvPr>
        </p:nvSpPr>
        <p:spPr>
          <a:xfrm>
            <a:off x="2120900" y="4953000"/>
            <a:ext cx="127000" cy="25400"/>
          </a:xfrm>
          <a:custGeom>
            <a:avLst/>
            <a:gdLst/>
            <a:ahLst/>
            <a:cxnLst/>
            <a:rect l="l" t="t" r="r" b="b"/>
            <a:pathLst>
              <a:path w="10" h="2">
                <a:moveTo>
                  <a:pt x="0" y="1"/>
                </a:moveTo>
                <a:lnTo>
                  <a:pt x="10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7" name="lc2"/>
          <p:cNvSpPr/>
          <p:nvPr/>
        </p:nvSpPr>
        <p:spPr>
          <a:xfrm>
            <a:off x="2286000" y="4775200"/>
            <a:ext cx="13208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18" name="lc2t"/>
          <p:cNvSpPr txBox="1"/>
          <p:nvPr/>
        </p:nvSpPr>
        <p:spPr>
          <a:xfrm>
            <a:off x="2286000" y="4775200"/>
            <a:ext cx="13208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/>
                <a:ea typeface="微软雅黑"/>
              </a:rPr>
              <a:t>M02 特征</a:t>
            </a:r>
            <a:endParaRPr lang="en-US" sz="1300" noProof="1"/>
          </a:p>
        </p:txBody>
      </p:sp>
      <p:sp>
        <p:nvSpPr>
          <p:cNvPr id="19" name="la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eyJ2aWV3Qm94IjpbMTAsMl0sInBvaW50cyI6IjAsMSAxMCwxIn0</pptd:line>
              </p:ext>
            </p:extLst>
          </p:nvPr>
        </p:nvSpPr>
        <p:spPr>
          <a:xfrm>
            <a:off x="3644900" y="4953000"/>
            <a:ext cx="127000" cy="25400"/>
          </a:xfrm>
          <a:custGeom>
            <a:avLst/>
            <a:gdLst/>
            <a:ahLst/>
            <a:cxnLst/>
            <a:rect l="l" t="t" r="r" b="b"/>
            <a:pathLst>
              <a:path w="10" h="2">
                <a:moveTo>
                  <a:pt x="0" y="1"/>
                </a:moveTo>
                <a:lnTo>
                  <a:pt x="10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20" name="lc3"/>
          <p:cNvSpPr/>
          <p:nvPr/>
        </p:nvSpPr>
        <p:spPr>
          <a:xfrm>
            <a:off x="3810000" y="4775200"/>
            <a:ext cx="13208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21" name="lc3t"/>
          <p:cNvSpPr txBox="1"/>
          <p:nvPr/>
        </p:nvSpPr>
        <p:spPr>
          <a:xfrm>
            <a:off x="3810000" y="4775200"/>
            <a:ext cx="13208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/>
                <a:ea typeface="微软雅黑"/>
              </a:rPr>
              <a:t>M03 分帧</a:t>
            </a:r>
            <a:endParaRPr lang="en-US" sz="1300" noProof="1"/>
          </a:p>
        </p:txBody>
      </p:sp>
      <p:sp>
        <p:nvSpPr>
          <p:cNvPr id="22" name="la3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eyJ2aWV3Qm94IjpbMTAsMl0sInBvaW50cyI6IjAsMSAxMCwxIn0</pptd:line>
              </p:ext>
            </p:extLst>
          </p:nvPr>
        </p:nvSpPr>
        <p:spPr>
          <a:xfrm>
            <a:off x="5168900" y="4953000"/>
            <a:ext cx="127000" cy="25400"/>
          </a:xfrm>
          <a:custGeom>
            <a:avLst/>
            <a:gdLst/>
            <a:ahLst/>
            <a:cxnLst/>
            <a:rect l="l" t="t" r="r" b="b"/>
            <a:pathLst>
              <a:path w="10" h="2">
                <a:moveTo>
                  <a:pt x="0" y="1"/>
                </a:moveTo>
                <a:lnTo>
                  <a:pt x="10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23" name="lc4"/>
          <p:cNvSpPr/>
          <p:nvPr/>
        </p:nvSpPr>
        <p:spPr>
          <a:xfrm>
            <a:off x="5334000" y="4775200"/>
            <a:ext cx="13208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24" name="lc4t"/>
          <p:cNvSpPr txBox="1"/>
          <p:nvPr/>
        </p:nvSpPr>
        <p:spPr>
          <a:xfrm>
            <a:off x="5334000" y="4775200"/>
            <a:ext cx="13208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/>
                <a:ea typeface="微软雅黑"/>
              </a:rPr>
              <a:t>M04 聚类</a:t>
            </a:r>
            <a:endParaRPr lang="en-US" sz="1300" noProof="1"/>
          </a:p>
        </p:txBody>
      </p:sp>
      <p:sp>
        <p:nvSpPr>
          <p:cNvPr id="25" name="la4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eyJ2aWV3Qm94IjpbMTAsMl0sInBvaW50cyI6IjAsMSAxMCwxIn0</pptd:line>
              </p:ext>
            </p:extLst>
          </p:nvPr>
        </p:nvSpPr>
        <p:spPr>
          <a:xfrm>
            <a:off x="6692900" y="4953000"/>
            <a:ext cx="127000" cy="25400"/>
          </a:xfrm>
          <a:custGeom>
            <a:avLst/>
            <a:gdLst/>
            <a:ahLst/>
            <a:cxnLst/>
            <a:rect l="l" t="t" r="r" b="b"/>
            <a:pathLst>
              <a:path w="10" h="2">
                <a:moveTo>
                  <a:pt x="0" y="1"/>
                </a:moveTo>
                <a:lnTo>
                  <a:pt x="10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26" name="lc5"/>
          <p:cNvSpPr/>
          <p:nvPr/>
        </p:nvSpPr>
        <p:spPr>
          <a:xfrm>
            <a:off x="6858000" y="4775200"/>
            <a:ext cx="13208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27" name="lc5t"/>
          <p:cNvSpPr txBox="1"/>
          <p:nvPr/>
        </p:nvSpPr>
        <p:spPr>
          <a:xfrm>
            <a:off x="6858000" y="4775200"/>
            <a:ext cx="13208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/>
                <a:ea typeface="微软雅黑"/>
              </a:rPr>
              <a:t>M05 对齐</a:t>
            </a:r>
            <a:endParaRPr lang="en-US" sz="1300" noProof="1"/>
          </a:p>
        </p:txBody>
      </p:sp>
      <p:sp>
        <p:nvSpPr>
          <p:cNvPr id="28" name="la5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eyJ2aWV3Qm94IjpbMTAsMl0sInBvaW50cyI6IjAsMSAxMCwxIn0</pptd:line>
              </p:ext>
            </p:extLst>
          </p:nvPr>
        </p:nvSpPr>
        <p:spPr>
          <a:xfrm>
            <a:off x="8216900" y="4953000"/>
            <a:ext cx="127000" cy="25400"/>
          </a:xfrm>
          <a:custGeom>
            <a:avLst/>
            <a:gdLst/>
            <a:ahLst/>
            <a:cxnLst/>
            <a:rect l="l" t="t" r="r" b="b"/>
            <a:pathLst>
              <a:path w="10" h="2">
                <a:moveTo>
                  <a:pt x="0" y="1"/>
                </a:moveTo>
                <a:lnTo>
                  <a:pt x="10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29" name="lc6"/>
          <p:cNvSpPr/>
          <p:nvPr/>
        </p:nvSpPr>
        <p:spPr>
          <a:xfrm>
            <a:off x="8382000" y="4775200"/>
            <a:ext cx="14732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30" name="lc6t"/>
          <p:cNvSpPr txBox="1"/>
          <p:nvPr/>
        </p:nvSpPr>
        <p:spPr>
          <a:xfrm>
            <a:off x="8382000" y="4775200"/>
            <a:ext cx="147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/>
                <a:ea typeface="微软雅黑"/>
              </a:rPr>
              <a:t>M06 字段候选</a:t>
            </a:r>
            <a:endParaRPr lang="en-US" sz="1300" noProof="1"/>
          </a:p>
        </p:txBody>
      </p:sp>
      <p:sp>
        <p:nvSpPr>
          <p:cNvPr id="31" name="la6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eyJ2aWV3Qm94IjpbMTAsMl0sInBvaW50cyI6IjAsMSAxMCwxIn0</pptd:line>
              </p:ext>
            </p:extLst>
          </p:nvPr>
        </p:nvSpPr>
        <p:spPr>
          <a:xfrm>
            <a:off x="9893300" y="4953000"/>
            <a:ext cx="127000" cy="25400"/>
          </a:xfrm>
          <a:custGeom>
            <a:avLst/>
            <a:gdLst/>
            <a:ahLst/>
            <a:cxnLst/>
            <a:rect l="l" t="t" r="r" b="b"/>
            <a:pathLst>
              <a:path w="10" h="2">
                <a:moveTo>
                  <a:pt x="0" y="1"/>
                </a:moveTo>
                <a:lnTo>
                  <a:pt x="10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32" name="lc7"/>
          <p:cNvSpPr/>
          <p:nvPr/>
        </p:nvSpPr>
        <p:spPr>
          <a:xfrm>
            <a:off x="10058400" y="4775200"/>
            <a:ext cx="1320800" cy="381000"/>
          </a:xfrm>
          <a:prstGeom prst="roundRect">
            <a:avLst>
              <a:gd name="adj" fmla="val 24000"/>
            </a:avLst>
          </a:prstGeom>
          <a:solidFill>
            <a:srgbClr val="FF4D04"/>
          </a:solidFill>
          <a:ln>
            <a:noFill/>
          </a:ln>
        </p:spPr>
      </p:sp>
      <p:sp>
        <p:nvSpPr>
          <p:cNvPr id="33" name="lc7t"/>
          <p:cNvSpPr txBox="1"/>
          <p:nvPr/>
        </p:nvSpPr>
        <p:spPr>
          <a:xfrm>
            <a:off x="10058400" y="4775200"/>
            <a:ext cx="13208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/>
                <a:ea typeface="微软雅黑"/>
              </a:rPr>
              <a:t>M12 报告</a:t>
            </a:r>
            <a:endParaRPr lang="en-US" sz="1300" noProof="1"/>
          </a:p>
        </p:txBody>
      </p:sp>
      <p:sp>
        <p:nvSpPr>
          <p:cNvPr id="34" name="emph-box"/>
          <p:cNvSpPr/>
          <p:nvPr/>
        </p:nvSpPr>
        <p:spPr>
          <a:xfrm>
            <a:off x="508000" y="5486400"/>
            <a:ext cx="11176000" cy="711200"/>
          </a:xfrm>
          <a:prstGeom prst="roundRect">
            <a:avLst>
              <a:gd name="adj" fmla="val 12000"/>
            </a:avLst>
          </a:prstGeom>
          <a:solidFill>
            <a:srgbClr val="EDF2F8"/>
          </a:solidFill>
          <a:ln>
            <a:noFill/>
          </a:ln>
        </p:spPr>
      </p:sp>
      <p:sp>
        <p:nvSpPr>
          <p:cNvPr id="35" name="emph-bar"/>
          <p:cNvSpPr/>
          <p:nvPr/>
        </p:nvSpPr>
        <p:spPr>
          <a:xfrm>
            <a:off x="508000" y="5486400"/>
            <a:ext cx="63500" cy="7112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36" name="emph-text"/>
          <p:cNvSpPr txBox="1"/>
          <p:nvPr/>
        </p:nvSpPr>
        <p:spPr>
          <a:xfrm>
            <a:off x="812800" y="5588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强调：</a:t>
            </a: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这是一条</a:t>
            </a:r>
            <a:r>
              <a:rPr lang="en-US" sz="1800" b="1" noProof="1">
                <a:solidFill>
                  <a:srgbClr val="FF4D04"/>
                </a:solidFill>
                <a:latin typeface="微软雅黑"/>
                <a:ea typeface="微软雅黑"/>
              </a:rPr>
              <a:t>候选假设</a:t>
            </a: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，不是协议定义。每条结论保留来源偏移。</a:t>
            </a:r>
            <a:endParaRPr lang="en-US" sz="1800" noProof="1"/>
          </a:p>
        </p:txBody>
      </p:sp>
      <p:sp>
        <p:nvSpPr>
          <p:cNvPr id="37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6 / 15</a:t>
            </a:r>
            <a:endParaRPr lang="en-US" sz="12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1A287B"/>
                </a:solidFill>
                <a:latin typeface="微软雅黑"/>
                <a:ea typeface="微软雅黑"/>
              </a:rPr>
              <a:t>只取协议声明为明文的区段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input-info"/>
          <p:cNvSpPr txBox="1"/>
          <p:nvPr/>
        </p:nvSpPr>
        <p:spPr>
          <a:xfrm>
            <a:off x="762000" y="12192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输入：TLS 1.3 记录流 1480 字节（Wireshark 公开抓包派生，SHA-256 绑定）</a:t>
            </a:r>
            <a:endParaRPr lang="en-US" sz="1800" noProof="1"/>
          </a:p>
        </p:txBody>
      </p:sp>
      <p:graphicFrame>
        <p:nvGraphicFramePr>
          <p:cNvPr id="6" name="rec-table"/>
          <p:cNvGraphicFramePr>
            <a:graphicFrameLocks noGrp="1"/>
          </p:cNvGraphicFramePr>
          <p:nvPr/>
        </p:nvGraphicFramePr>
        <p:xfrm>
          <a:off x="762000" y="1778000"/>
          <a:ext cx="5334000" cy="2794000"/>
        </p:xfrm>
        <a:graphic>
          <a:graphicData uri="http://schemas.openxmlformats.org/drawingml/2006/table">
            <a:tbl>
              <a:tblPr/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1" noProof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区域（按 RFC 8446 声明）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1" noProof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字节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record_header ×9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45 B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handshake_plaintext ×2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355 B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change_cipher_spec ×2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2 B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受保护（拒绝）×5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1,078 B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sult-card"/>
          <p:cNvSpPr/>
          <p:nvPr/>
        </p:nvSpPr>
        <p:spPr>
          <a:xfrm>
            <a:off x="6604000" y="1778000"/>
            <a:ext cx="5080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8" name="result-label"/>
          <p:cNvSpPr txBox="1"/>
          <p:nvPr/>
        </p:nvSpPr>
        <p:spPr>
          <a:xfrm>
            <a:off x="6908800" y="19304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结果</a:t>
            </a:r>
            <a:endParaRPr lang="en-US" sz="1400" noProof="1"/>
          </a:p>
        </p:txBody>
      </p:sp>
      <p:sp>
        <p:nvSpPr>
          <p:cNvPr id="9" name="result-num"/>
          <p:cNvSpPr txBox="1"/>
          <p:nvPr/>
        </p:nvSpPr>
        <p:spPr>
          <a:xfrm>
            <a:off x="6908800" y="2260600"/>
            <a:ext cx="4572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noProof="1">
                <a:solidFill>
                  <a:srgbClr val="1A287B"/>
                </a:solidFill>
                <a:latin typeface="微软雅黑"/>
                <a:ea typeface="微软雅黑"/>
              </a:rPr>
              <a:t>明文 402 B</a:t>
            </a:r>
            <a:r>
              <a:rPr lang="en-US" sz="2400" b="1" noProof="1">
                <a:solidFill>
                  <a:srgbClr val="5B6472"/>
                </a:solidFill>
                <a:latin typeface="微软雅黑"/>
                <a:ea typeface="微软雅黑"/>
              </a:rPr>
              <a:t>，</a:t>
            </a:r>
            <a:r>
              <a:rPr lang="en-US" sz="2400" b="1" noProof="1">
                <a:solidFill>
                  <a:srgbClr val="FF4D04"/>
                </a:solidFill>
                <a:latin typeface="微软雅黑"/>
                <a:ea typeface="微软雅黑"/>
              </a:rPr>
              <a:t>拒绝 1,078 B</a:t>
            </a:r>
            <a:endParaRPr lang="en-US" sz="2400" noProof="1"/>
          </a:p>
        </p:txBody>
      </p:sp>
      <p:sp>
        <p:nvSpPr>
          <p:cNvPr id="10" name="plain-card"/>
          <p:cNvSpPr/>
          <p:nvPr/>
        </p:nvSpPr>
        <p:spPr>
          <a:xfrm>
            <a:off x="6604000" y="3302000"/>
            <a:ext cx="5080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11" name="plain-label"/>
          <p:cNvSpPr txBox="1"/>
          <p:nvPr/>
        </p:nvSpPr>
        <p:spPr>
          <a:xfrm>
            <a:off x="6908800" y="34544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从恢复明文实读</a:t>
            </a:r>
            <a:endParaRPr lang="en-US" sz="1400" noProof="1"/>
          </a:p>
        </p:txBody>
      </p:sp>
      <p:sp>
        <p:nvSpPr>
          <p:cNvPr id="12" name="plain-text"/>
          <p:cNvSpPr txBox="1"/>
          <p:nvPr/>
        </p:nvSpPr>
        <p:spPr>
          <a:xfrm>
            <a:off x="6908800" y="3784600"/>
            <a:ext cx="4572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1A287B"/>
                </a:solidFill>
                <a:latin typeface="Consolas"/>
                <a:ea typeface="Consolas"/>
              </a:rPr>
              <a:t>版本 0x0304 · 套件 0x1301</a:t>
            </a:r>
            <a:endParaRPr lang="en-US" sz="2000" noProof="1"/>
          </a:p>
        </p:txBody>
      </p:sp>
      <p:sp>
        <p:nvSpPr>
          <p:cNvPr id="13" name="bound-label"/>
          <p:cNvSpPr txBox="1"/>
          <p:nvPr/>
        </p:nvSpPr>
        <p:spPr>
          <a:xfrm>
            <a:off x="762000" y="49276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noProof="1">
                <a:solidFill>
                  <a:srgbClr val="1A287B"/>
                </a:solidFill>
                <a:latin typeface="微软雅黑"/>
                <a:ea typeface="微软雅黑"/>
              </a:rPr>
              <a:t>边界</a:t>
            </a:r>
            <a:endParaRPr lang="en-US" sz="1900" noProof="1"/>
          </a:p>
        </p:txBody>
      </p:sp>
      <p:sp>
        <p:nvSpPr>
          <p:cNvPr id="14" name="bd1-sq"/>
          <p:cNvSpPr/>
          <p:nvPr/>
        </p:nvSpPr>
        <p:spPr>
          <a:xfrm>
            <a:off x="762000" y="54991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5" name="bd1"/>
          <p:cNvSpPr txBox="1"/>
          <p:nvPr/>
        </p:nvSpPr>
        <p:spPr>
          <a:xfrm>
            <a:off x="1041400" y="5346700"/>
            <a:ext cx="10541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记录头的 legacy_version 不是协商版本：它写 0x0303，协商结果是 0x0304</a:t>
            </a:r>
            <a:endParaRPr lang="en-US" sz="1800" noProof="1"/>
          </a:p>
        </p:txBody>
      </p:sp>
      <p:sp>
        <p:nvSpPr>
          <p:cNvPr id="16" name="bd2-sq"/>
          <p:cNvSpPr/>
          <p:nvPr/>
        </p:nvSpPr>
        <p:spPr>
          <a:xfrm>
            <a:off x="762000" y="59817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7" name="bd2"/>
          <p:cNvSpPr txBox="1"/>
          <p:nvPr/>
        </p:nvSpPr>
        <p:spPr>
          <a:xfrm>
            <a:off x="1041400" y="5829300"/>
            <a:ext cx="10541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受保护区域逐段记 DECLARED_PROTECTED_REGION，不解密、不伪造明文；铺不满则整体拒绝</a:t>
            </a:r>
            <a:endParaRPr lang="en-US" sz="1800" noProof="1"/>
          </a:p>
        </p:txBody>
      </p:sp>
      <p:sp>
        <p:nvSpPr>
          <p:cNvPr id="18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7 / 15</a:t>
            </a:r>
            <a:endParaRPr lang="en-US" sz="12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1A287B"/>
                </a:solidFill>
                <a:latin typeface="微软雅黑"/>
                <a:ea typeface="微软雅黑"/>
              </a:rPr>
              <a:t>只输出工具实际看见的字段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input-info"/>
          <p:cNvSpPr txBox="1"/>
          <p:nvPr/>
        </p:nvSpPr>
        <p:spPr>
          <a:xfrm>
            <a:off x="762000" y="12192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输入：http-brotli.pcapng（1840 字节标准抓包）</a:t>
            </a:r>
            <a:endParaRPr lang="en-US" sz="1800" noProof="1"/>
          </a:p>
        </p:txBody>
      </p:sp>
      <p:sp>
        <p:nvSpPr>
          <p:cNvPr id="6" name="m07-chip"/>
          <p:cNvSpPr/>
          <p:nvPr/>
        </p:nvSpPr>
        <p:spPr>
          <a:xfrm>
            <a:off x="762000" y="1803400"/>
            <a:ext cx="3403600" cy="406400"/>
          </a:xfrm>
          <a:prstGeom prst="roundRect">
            <a:avLst>
              <a:gd name="adj" fmla="val 50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7" name="m07-chip-t"/>
          <p:cNvSpPr txBox="1"/>
          <p:nvPr/>
        </p:nvSpPr>
        <p:spPr>
          <a:xfrm>
            <a:off x="762000" y="1803400"/>
            <a:ext cx="34036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FFFFFF"/>
                </a:solidFill>
                <a:latin typeface="微软雅黑"/>
                <a:ea typeface="微软雅黑"/>
              </a:rPr>
              <a:t>M07 协议识别（TShark）</a:t>
            </a:r>
            <a:endParaRPr lang="en-US" sz="1500" noProof="1"/>
          </a:p>
        </p:txBody>
      </p:sp>
      <p:sp>
        <p:nvSpPr>
          <p:cNvPr id="8" name="m07-b1-sq"/>
          <p:cNvSpPr/>
          <p:nvPr/>
        </p:nvSpPr>
        <p:spPr>
          <a:xfrm>
            <a:off x="965200" y="25019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9" name="m07-b1"/>
          <p:cNvSpPr txBox="1"/>
          <p:nvPr/>
        </p:nvSpPr>
        <p:spPr>
          <a:xfrm>
            <a:off x="1244600" y="2349500"/>
            <a:ext cx="9906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GET </a:t>
            </a:r>
            <a:r>
              <a:rPr lang="en-US" sz="1800" noProof="1">
                <a:solidFill>
                  <a:srgbClr val="1F2937"/>
                </a:solidFill>
                <a:latin typeface="Consolas"/>
                <a:ea typeface="Consolas"/>
              </a:rPr>
              <a:t>http://192.168.122.33/test.txt</a:t>
            </a:r>
            <a:endParaRPr lang="en-US" sz="1800" noProof="1"/>
          </a:p>
        </p:txBody>
      </p:sp>
      <p:sp>
        <p:nvSpPr>
          <p:cNvPr id="10" name="m07-b2-sq"/>
          <p:cNvSpPr/>
          <p:nvPr/>
        </p:nvSpPr>
        <p:spPr>
          <a:xfrm>
            <a:off x="965200" y="30099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1" name="m07-b2"/>
          <p:cNvSpPr txBox="1"/>
          <p:nvPr/>
        </p:nvSpPr>
        <p:spPr>
          <a:xfrm>
            <a:off x="1244600" y="2857500"/>
            <a:ext cx="9906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响应 200，text/plain</a:t>
            </a:r>
            <a:endParaRPr lang="en-US" sz="1800" noProof="1"/>
          </a:p>
        </p:txBody>
      </p:sp>
      <p:sp>
        <p:nvSpPr>
          <p:cNvPr id="12" name="m09-line"/>
          <p:cNvSpPr txBox="1"/>
          <p:nvPr/>
        </p:nvSpPr>
        <p:spPr>
          <a:xfrm>
            <a:off x="762000" y="35306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M09 流量统计：</a:t>
            </a: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1 条流 / 10 个包</a:t>
            </a:r>
            <a:endParaRPr lang="en-US" sz="1800" noProof="1"/>
          </a:p>
        </p:txBody>
      </p:sp>
      <p:sp>
        <p:nvSpPr>
          <p:cNvPr id="13" name="m10-line"/>
          <p:cNvSpPr txBox="1"/>
          <p:nvPr/>
        </p:nvSpPr>
        <p:spPr>
          <a:xfrm>
            <a:off x="762000" y="40132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M10 行为</a:t>
            </a:r>
            <a:r>
              <a:rPr lang="en-US" sz="1800" b="1" noProof="1">
                <a:solidFill>
                  <a:srgbClr val="FF4D04"/>
                </a:solidFill>
                <a:latin typeface="微软雅黑"/>
                <a:ea typeface="微软雅黑"/>
              </a:rPr>
              <a:t>候选</a:t>
            </a: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：</a:t>
            </a:r>
            <a:r>
              <a:rPr lang="en-US" sz="1800" noProof="1">
                <a:solidFill>
                  <a:srgbClr val="1F2937"/>
                </a:solidFill>
                <a:latin typeface="Consolas"/>
                <a:ea typeface="Consolas"/>
              </a:rPr>
              <a:t>bursty_transfer</a:t>
            </a: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（突发传输）</a:t>
            </a:r>
            <a:endParaRPr lang="en-US" sz="1800" noProof="1"/>
          </a:p>
          <a:p>
            <a:pPr algn="l">
              <a:lnSpc>
                <a:spcPct val="15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M11 类型</a:t>
            </a:r>
            <a:r>
              <a:rPr lang="en-US" sz="1800" b="1" noProof="1">
                <a:solidFill>
                  <a:srgbClr val="FF4D04"/>
                </a:solidFill>
                <a:latin typeface="微软雅黑"/>
                <a:ea typeface="微软雅黑"/>
              </a:rPr>
              <a:t>候选</a:t>
            </a:r>
            <a:r>
              <a:rPr lang="en-US" sz="1800" b="0" noProof="1">
                <a:solidFill>
                  <a:srgbClr val="1F2937"/>
                </a:solidFill>
                <a:latin typeface="微软雅黑"/>
                <a:ea typeface="微软雅黑"/>
              </a:rPr>
              <a:t>：</a:t>
            </a:r>
            <a:r>
              <a:rPr lang="en-US" sz="1800" b="0" noProof="1">
                <a:solidFill>
                  <a:srgbClr val="1F2937"/>
                </a:solidFill>
                <a:latin typeface="Consolas"/>
                <a:ea typeface="Consolas"/>
              </a:rPr>
              <a:t>download</a:t>
            </a:r>
            <a:r>
              <a:rPr lang="en-US" sz="1800" b="0" noProof="1">
                <a:solidFill>
                  <a:srgbClr val="1F2937"/>
                </a:solidFill>
                <a:latin typeface="微软雅黑"/>
                <a:ea typeface="微软雅黑"/>
              </a:rPr>
              <a:t> 0.8（复用冻结分类器；低于 0.5 报 unknown）</a:t>
            </a:r>
            <a:endParaRPr lang="en-US" sz="1800" noProof="1"/>
          </a:p>
        </p:txBody>
      </p:sp>
      <p:sp>
        <p:nvSpPr>
          <p:cNvPr id="14" name="emph-box"/>
          <p:cNvSpPr/>
          <p:nvPr/>
        </p:nvSpPr>
        <p:spPr>
          <a:xfrm>
            <a:off x="508000" y="4724400"/>
            <a:ext cx="11176000" cy="1320800"/>
          </a:xfrm>
          <a:prstGeom prst="roundRect">
            <a:avLst>
              <a:gd name="adj" fmla="val 10000"/>
            </a:avLst>
          </a:prstGeom>
          <a:solidFill>
            <a:srgbClr val="EDF2F8"/>
          </a:solidFill>
          <a:ln>
            <a:noFill/>
          </a:ln>
        </p:spPr>
      </p:sp>
      <p:sp>
        <p:nvSpPr>
          <p:cNvPr id="15" name="emph-bar"/>
          <p:cNvSpPr/>
          <p:nvPr/>
        </p:nvSpPr>
        <p:spPr>
          <a:xfrm>
            <a:off x="508000" y="4724400"/>
            <a:ext cx="63500" cy="132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6" name="emph-text"/>
          <p:cNvSpPr txBox="1"/>
          <p:nvPr/>
        </p:nvSpPr>
        <p:spPr>
          <a:xfrm>
            <a:off x="812800" y="48768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· 端口只作上下文，不能单凭端口断定协议</a:t>
            </a:r>
            <a:endParaRPr lang="en-US" sz="1800" noProof="1"/>
          </a:p>
          <a:p>
            <a:pPr algn="l">
              <a:lnSpc>
                <a:spcPct val="16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· “突发传输”是流量</a:t>
            </a:r>
            <a:r>
              <a:rPr lang="en-US" sz="1800" b="1" noProof="1">
                <a:solidFill>
                  <a:srgbClr val="FF4D04"/>
                </a:solidFill>
                <a:latin typeface="微软雅黑"/>
                <a:ea typeface="微软雅黑"/>
              </a:rPr>
              <a:t>模式候选</a:t>
            </a: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，不是应用语义、用户身份或恶意性判定</a:t>
            </a:r>
            <a:endParaRPr lang="en-US" sz="1800" noProof="1"/>
          </a:p>
        </p:txBody>
      </p:sp>
      <p:sp>
        <p:nvSpPr>
          <p:cNvPr id="17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8 / 15</a:t>
            </a:r>
            <a:endParaRPr lang="en-US" sz="12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1A287B"/>
                </a:solidFill>
                <a:latin typeface="微软雅黑"/>
                <a:ea typeface="微软雅黑"/>
              </a:rPr>
              <a:t>公开 / 外部真实 / 自采，分开报告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graphicFrame>
        <p:nvGraphicFramePr>
          <p:cNvPr id="5" name="data-table"/>
          <p:cNvGraphicFramePr>
            <a:graphicFrameLocks noGrp="1"/>
          </p:cNvGraphicFramePr>
          <p:nvPr/>
        </p:nvGraphicFramePr>
        <p:xfrm>
          <a:off x="762000" y="1371600"/>
          <a:ext cx="10668000" cy="35560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1" noProof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1" noProof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规模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1" noProof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用途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真实外部 DAT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2 个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验证 M01–M06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公开样例包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21 个（9+6+6）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覆盖六类样例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自采回环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18 个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M09–M11 基线，不外推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测试规模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195 项全部通过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回归门禁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foot-note"/>
          <p:cNvSpPr txBox="1"/>
          <p:nvPr/>
        </p:nvSpPr>
        <p:spPr>
          <a:xfrm>
            <a:off x="762000" y="5232400"/>
            <a:ext cx="10668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外部 DAT：Audiobeat、WatchPAT；六类：常见 / 工业 / 少见 / 自定义 / 恶意 / 负例</a:t>
            </a:r>
            <a:endParaRPr lang="en-US" sz="1400" noProof="1"/>
          </a:p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三类数据结论分开陈述，课程指定 DAT 到位后可原样替换复跑。</a:t>
            </a:r>
            <a:endParaRPr lang="en-US" sz="1400" noProof="1"/>
          </a:p>
        </p:txBody>
      </p:sp>
      <p:sp>
        <p:nvSpPr>
          <p:cNvPr id="7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9 / 15</a:t>
            </a:r>
            <a:endParaRPr lang="en-US" sz="12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1A287B"/>
                </a:solidFill>
                <a:latin typeface="微软雅黑"/>
                <a:ea typeface="微软雅黑"/>
              </a:rPr>
              <a:t>在留出集上验证，不用训练集自证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ubx-chip"/>
          <p:cNvSpPr/>
          <p:nvPr/>
        </p:nvSpPr>
        <p:spPr>
          <a:xfrm>
            <a:off x="762000" y="1295400"/>
            <a:ext cx="4191000" cy="431800"/>
          </a:xfrm>
          <a:prstGeom prst="roundRect">
            <a:avLst>
              <a:gd name="adj" fmla="val 50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6" name="ubx-chip-t"/>
          <p:cNvSpPr txBox="1"/>
          <p:nvPr/>
        </p:nvSpPr>
        <p:spPr>
          <a:xfrm>
            <a:off x="762000" y="1295400"/>
            <a:ext cx="4191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FFFFFF"/>
                </a:solidFill>
                <a:latin typeface="微软雅黑"/>
                <a:ea typeface="微软雅黑"/>
              </a:rPr>
              <a:t>Wireshark UBX 留出集（639 条消息）</a:t>
            </a:r>
            <a:endParaRPr lang="en-US" sz="1500" noProof="1"/>
          </a:p>
        </p:txBody>
      </p:sp>
      <p:sp>
        <p:nvSpPr>
          <p:cNvPr id="7" name="u1-sq"/>
          <p:cNvSpPr/>
          <p:nvPr/>
        </p:nvSpPr>
        <p:spPr>
          <a:xfrm>
            <a:off x="965200" y="20447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8" name="u1"/>
          <p:cNvSpPr txBox="1"/>
          <p:nvPr/>
        </p:nvSpPr>
        <p:spPr>
          <a:xfrm>
            <a:off x="1244600" y="18923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消息边界：639/639，P/R/F1 = 1.00</a:t>
            </a:r>
            <a:endParaRPr lang="en-US" sz="1800" noProof="1"/>
          </a:p>
        </p:txBody>
      </p:sp>
      <p:sp>
        <p:nvSpPr>
          <p:cNvPr id="9" name="u2-sq"/>
          <p:cNvSpPr/>
          <p:nvPr/>
        </p:nvSpPr>
        <p:spPr>
          <a:xfrm>
            <a:off x="965200" y="26035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0" name="u2"/>
          <p:cNvSpPr txBox="1"/>
          <p:nvPr/>
        </p:nvSpPr>
        <p:spPr>
          <a:xfrm>
            <a:off x="1244600" y="24511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类型聚类：ARI = 1.00，NMI = 1.00</a:t>
            </a:r>
            <a:endParaRPr lang="en-US" sz="1800" noProof="1"/>
          </a:p>
        </p:txBody>
      </p:sp>
      <p:sp>
        <p:nvSpPr>
          <p:cNvPr id="11" name="u3-sq"/>
          <p:cNvSpPr/>
          <p:nvPr/>
        </p:nvSpPr>
        <p:spPr>
          <a:xfrm>
            <a:off x="965200" y="31623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2" name="u3"/>
          <p:cNvSpPr txBox="1"/>
          <p:nvPr/>
        </p:nvSpPr>
        <p:spPr>
          <a:xfrm>
            <a:off x="1244600" y="30099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字段</a:t>
            </a:r>
            <a:r>
              <a:rPr lang="en-US" sz="1800" b="1" noProof="1">
                <a:solidFill>
                  <a:srgbClr val="FF4D04"/>
                </a:solidFill>
                <a:latin typeface="微软雅黑"/>
                <a:ea typeface="微软雅黑"/>
              </a:rPr>
              <a:t>候选</a:t>
            </a: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：1917 个，精确率 1.00，召回率 0.75</a:t>
            </a:r>
            <a:endParaRPr lang="en-US" sz="1800" noProof="1"/>
          </a:p>
        </p:txBody>
      </p:sp>
      <p:sp>
        <p:nvSpPr>
          <p:cNvPr id="13" name="iscx-chip"/>
          <p:cNvSpPr/>
          <p:nvPr/>
        </p:nvSpPr>
        <p:spPr>
          <a:xfrm>
            <a:off x="762000" y="3759200"/>
            <a:ext cx="3683000" cy="431800"/>
          </a:xfrm>
          <a:prstGeom prst="roundRect">
            <a:avLst>
              <a:gd name="adj" fmla="val 50000"/>
            </a:avLst>
          </a:prstGeom>
          <a:solidFill>
            <a:srgbClr val="FF4D04"/>
          </a:solidFill>
          <a:ln>
            <a:noFill/>
          </a:ln>
        </p:spPr>
      </p:sp>
      <p:sp>
        <p:nvSpPr>
          <p:cNvPr id="14" name="iscx-chip-t"/>
          <p:cNvSpPr txBox="1"/>
          <p:nvPr/>
        </p:nvSpPr>
        <p:spPr>
          <a:xfrm>
            <a:off x="762000" y="3759200"/>
            <a:ext cx="3683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FFFFFF"/>
                </a:solidFill>
                <a:latin typeface="微软雅黑"/>
                <a:ea typeface="微软雅黑"/>
              </a:rPr>
              <a:t>ISCX VPN 2016 业务分类</a:t>
            </a:r>
            <a:endParaRPr lang="en-US" sz="1500" noProof="1"/>
          </a:p>
        </p:txBody>
      </p:sp>
      <p:sp>
        <p:nvSpPr>
          <p:cNvPr id="15" name="i1-sq"/>
          <p:cNvSpPr/>
          <p:nvPr/>
        </p:nvSpPr>
        <p:spPr>
          <a:xfrm>
            <a:off x="965200" y="45085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6" name="i1"/>
          <p:cNvSpPr txBox="1"/>
          <p:nvPr/>
        </p:nvSpPr>
        <p:spPr>
          <a:xfrm>
            <a:off x="1244600" y="43561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28 个会话、1028 条 flow，两折会话不交叠</a:t>
            </a:r>
            <a:endParaRPr lang="en-US" sz="1800" noProof="1"/>
          </a:p>
        </p:txBody>
      </p:sp>
      <p:sp>
        <p:nvSpPr>
          <p:cNvPr id="17" name="i2-sq"/>
          <p:cNvSpPr/>
          <p:nvPr/>
        </p:nvSpPr>
        <p:spPr>
          <a:xfrm>
            <a:off x="965200" y="50673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8" name="i2"/>
          <p:cNvSpPr txBox="1"/>
          <p:nvPr/>
        </p:nvSpPr>
        <p:spPr>
          <a:xfrm>
            <a:off x="1244600" y="49149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macro-F1 = 0.4995，多数类基线 = 0.3040</a:t>
            </a:r>
            <a:endParaRPr lang="en-US" sz="1800" noProof="1"/>
          </a:p>
        </p:txBody>
      </p:sp>
      <p:sp>
        <p:nvSpPr>
          <p:cNvPr id="19" name="foot-note"/>
          <p:cNvSpPr txBox="1"/>
          <p:nvPr/>
        </p:nvSpPr>
        <p:spPr>
          <a:xfrm>
            <a:off x="762000" y="5740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召回率 0.75 意味着仍有漏检，已如实标注，不做选择性展示。</a:t>
            </a:r>
            <a:endParaRPr lang="en-US" sz="1400" noProof="1"/>
          </a:p>
        </p:txBody>
      </p:sp>
      <p:sp>
        <p:nvSpPr>
          <p:cNvPr id="20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10 / 15</a:t>
            </a:r>
            <a:endParaRPr lang="en-US" sz="12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1A287B"/>
                </a:solidFill>
                <a:latin typeface="微软雅黑"/>
                <a:ea typeface="微软雅黑"/>
              </a:rPr>
              <a:t>宁可拒绝，也不编造标签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cond-label"/>
          <p:cNvSpPr txBox="1"/>
          <p:nvPr/>
        </p:nvSpPr>
        <p:spPr>
          <a:xfrm>
            <a:off x="762000" y="1295400"/>
            <a:ext cx="6096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noProof="1">
                <a:solidFill>
                  <a:srgbClr val="1A287B"/>
                </a:solidFill>
                <a:latin typeface="微软雅黑"/>
                <a:ea typeface="微软雅黑"/>
              </a:rPr>
              <a:t>M11 只在满足全部条件时才训练</a:t>
            </a:r>
            <a:endParaRPr lang="en-US" sz="1900" noProof="1"/>
          </a:p>
        </p:txBody>
      </p:sp>
      <p:sp>
        <p:nvSpPr>
          <p:cNvPr id="6" name="cd1"/>
          <p:cNvSpPr/>
          <p:nvPr/>
        </p:nvSpPr>
        <p:spPr>
          <a:xfrm>
            <a:off x="762000" y="1854200"/>
            <a:ext cx="355600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7" name="cd1-check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1016000" y="210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1A287B"/>
          </a:solidFill>
          <a:ln>
            <a:noFill/>
          </a:ln>
        </p:spPr>
      </p:sp>
      <p:sp>
        <p:nvSpPr>
          <p:cNvPr id="8" name="cd1-t"/>
          <p:cNvSpPr txBox="1"/>
          <p:nvPr/>
        </p:nvSpPr>
        <p:spPr>
          <a:xfrm>
            <a:off x="1498600" y="1854200"/>
            <a:ext cx="26670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有显式标签</a:t>
            </a:r>
            <a:endParaRPr lang="en-US" sz="1800" noProof="1"/>
          </a:p>
        </p:txBody>
      </p:sp>
      <p:sp>
        <p:nvSpPr>
          <p:cNvPr id="9" name="cd2"/>
          <p:cNvSpPr/>
          <p:nvPr/>
        </p:nvSpPr>
        <p:spPr>
          <a:xfrm>
            <a:off x="4445000" y="1854200"/>
            <a:ext cx="355600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10" name="cd2-check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4699000" y="210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1A287B"/>
          </a:solidFill>
          <a:ln>
            <a:noFill/>
          </a:ln>
        </p:spPr>
      </p:sp>
      <p:sp>
        <p:nvSpPr>
          <p:cNvPr id="11" name="cd2-t"/>
          <p:cNvSpPr txBox="1"/>
          <p:nvPr/>
        </p:nvSpPr>
        <p:spPr>
          <a:xfrm>
            <a:off x="5181600" y="1854200"/>
            <a:ext cx="26670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特征固定且为有限数值</a:t>
            </a:r>
            <a:endParaRPr lang="en-US" sz="1800" noProof="1"/>
          </a:p>
        </p:txBody>
      </p:sp>
      <p:sp>
        <p:nvSpPr>
          <p:cNvPr id="12" name="cd3"/>
          <p:cNvSpPr/>
          <p:nvPr/>
        </p:nvSpPr>
        <p:spPr>
          <a:xfrm>
            <a:off x="8128000" y="1854200"/>
            <a:ext cx="355600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13" name="cd3-check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8382000" y="210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1A287B"/>
          </a:solidFill>
          <a:ln>
            <a:noFill/>
          </a:ln>
        </p:spPr>
      </p:sp>
      <p:sp>
        <p:nvSpPr>
          <p:cNvPr id="14" name="cd3-t"/>
          <p:cNvSpPr txBox="1"/>
          <p:nvPr/>
        </p:nvSpPr>
        <p:spPr>
          <a:xfrm>
            <a:off x="8864600" y="1854200"/>
            <a:ext cx="26670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类别完整、组间互斥</a:t>
            </a:r>
            <a:endParaRPr lang="en-US" sz="1800" noProof="1"/>
          </a:p>
        </p:txBody>
      </p:sp>
      <p:sp>
        <p:nvSpPr>
          <p:cNvPr id="15" name="reject-box"/>
          <p:cNvSpPr/>
          <p:nvPr/>
        </p:nvSpPr>
        <p:spPr>
          <a:xfrm>
            <a:off x="508000" y="3175000"/>
            <a:ext cx="11176000" cy="965200"/>
          </a:xfrm>
          <a:prstGeom prst="roundRect">
            <a:avLst>
              <a:gd name="adj" fmla="val 10000"/>
            </a:avLst>
          </a:prstGeom>
          <a:solidFill>
            <a:srgbClr val="EDF2F8"/>
          </a:solidFill>
          <a:ln>
            <a:noFill/>
          </a:ln>
        </p:spPr>
      </p:sp>
      <p:sp>
        <p:nvSpPr>
          <p:cNvPr id="16" name="reject-bar"/>
          <p:cNvSpPr/>
          <p:nvPr/>
        </p:nvSpPr>
        <p:spPr>
          <a:xfrm>
            <a:off x="508000" y="3175000"/>
            <a:ext cx="63500" cy="9652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7" name="reject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eyJpY29uTmFtZSI6ImZhczpiYW4ifQ</pptd:icon>
              </p:ext>
            </p:extLst>
          </p:nvPr>
        </p:nvSpPr>
        <p:spPr>
          <a:xfrm>
            <a:off x="838200" y="3479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367" y="413"/>
                </a:moveTo>
                <a:lnTo>
                  <a:pt x="100" y="145"/>
                </a:lnTo>
                <a:cubicBezTo>
                  <a:pt x="77" y="176"/>
                  <a:pt x="64" y="215"/>
                  <a:pt x="64" y="256"/>
                </a:cubicBezTo>
                <a:cubicBezTo>
                  <a:pt x="64" y="362"/>
                  <a:pt x="150" y="448"/>
                  <a:pt x="256" y="448"/>
                </a:cubicBezTo>
                <a:cubicBezTo>
                  <a:pt x="298" y="448"/>
                  <a:pt x="336" y="435"/>
                  <a:pt x="367" y="413"/>
                </a:cubicBezTo>
                <a:close/>
                <a:moveTo>
                  <a:pt x="413" y="367"/>
                </a:moveTo>
                <a:cubicBezTo>
                  <a:pt x="435" y="336"/>
                  <a:pt x="448" y="297"/>
                  <a:pt x="448" y="256"/>
                </a:cubicBezTo>
                <a:cubicBezTo>
                  <a:pt x="448" y="150"/>
                  <a:pt x="362" y="64"/>
                  <a:pt x="256" y="64"/>
                </a:cubicBezTo>
                <a:cubicBezTo>
                  <a:pt x="215" y="64"/>
                  <a:pt x="176" y="77"/>
                  <a:pt x="145" y="100"/>
                </a:cubicBezTo>
                <a:lnTo>
                  <a:pt x="413" y="367"/>
                </a:lnTo>
                <a:close/>
              </a:path>
            </a:pathLst>
          </a:custGeom>
          <a:solidFill>
            <a:srgbClr val="FF4D04"/>
          </a:solidFill>
          <a:ln>
            <a:noFill/>
          </a:ln>
        </p:spPr>
      </p:sp>
      <p:sp>
        <p:nvSpPr>
          <p:cNvPr id="18" name="reject-text"/>
          <p:cNvSpPr txBox="1"/>
          <p:nvPr/>
        </p:nvSpPr>
        <p:spPr>
          <a:xfrm>
            <a:off x="1371600" y="3327400"/>
            <a:ext cx="10033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明确拒绝：</a:t>
            </a: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把聚类算法给出的分组编号直接当作行为标签</a:t>
            </a:r>
            <a:endParaRPr lang="en-US" sz="1800" noProof="1"/>
          </a:p>
        </p:txBody>
      </p:sp>
      <p:sp>
        <p:nvSpPr>
          <p:cNvPr id="19" name="ok-line"/>
          <p:cNvSpPr txBox="1"/>
          <p:nvPr/>
        </p:nvSpPr>
        <p:spPr>
          <a:xfrm>
            <a:off x="762000" y="45212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成功时：</a:t>
            </a: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保存带哈希的 </a:t>
            </a:r>
            <a:r>
              <a:rPr lang="en-US" sz="1800" noProof="1">
                <a:solidFill>
                  <a:srgbClr val="1F2937"/>
                </a:solidFill>
                <a:latin typeface="Consolas"/>
                <a:ea typeface="Consolas"/>
              </a:rPr>
              <a:t>model.joblib</a:t>
            </a:r>
            <a:endParaRPr lang="en-US" sz="1800" noProof="1"/>
          </a:p>
        </p:txBody>
      </p:sp>
      <p:sp>
        <p:nvSpPr>
          <p:cNvPr id="20" name="foot-note"/>
          <p:cNvSpPr txBox="1"/>
          <p:nvPr/>
        </p:nvSpPr>
        <p:spPr>
          <a:xfrm>
            <a:off x="762000" y="5740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聚类 ≠ 行为分类，这是本模块不妥协的一条线。</a:t>
            </a:r>
            <a:endParaRPr lang="en-US" sz="1400" noProof="1"/>
          </a:p>
        </p:txBody>
      </p:sp>
      <p:sp>
        <p:nvSpPr>
          <p:cNvPr id="21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11 / 15</a:t>
            </a:r>
            <a:endParaRPr lang="en-US" sz="12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1A287B"/>
                </a:solidFill>
                <a:latin typeface="微软雅黑"/>
                <a:ea typeface="微软雅黑"/>
              </a:rPr>
              <a:t>M12 四类证据 + 有界大模型解释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trust-label"/>
          <p:cNvSpPr txBox="1"/>
          <p:nvPr/>
        </p:nvSpPr>
        <p:spPr>
          <a:xfrm>
            <a:off x="762000" y="12192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noProof="1">
                <a:solidFill>
                  <a:srgbClr val="1A287B"/>
                </a:solidFill>
                <a:latin typeface="微软雅黑"/>
                <a:ea typeface="微软雅黑"/>
              </a:rPr>
              <a:t>M12 确定性输出</a:t>
            </a:r>
            <a:endParaRPr lang="en-US" sz="1900" noProof="1"/>
          </a:p>
        </p:txBody>
      </p:sp>
      <p:sp>
        <p:nvSpPr>
          <p:cNvPr id="6" name="n1"/>
          <p:cNvSpPr/>
          <p:nvPr/>
        </p:nvSpPr>
        <p:spPr>
          <a:xfrm>
            <a:off x="571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7" name="n1t"/>
          <p:cNvSpPr txBox="1"/>
          <p:nvPr/>
        </p:nvSpPr>
        <p:spPr>
          <a:xfrm>
            <a:off x="571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观测事实</a:t>
            </a:r>
            <a:endParaRPr lang="en-US" sz="1400" noProof="1"/>
          </a:p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仅陈述已解析</a:t>
            </a:r>
            <a:endParaRPr lang="en-US" sz="1400" noProof="1"/>
          </a:p>
        </p:txBody>
      </p:sp>
      <p:sp>
        <p:nvSpPr>
          <p:cNvPr id="8" name="na1"/>
          <p:cNvSpPr/>
          <p:nvPr>
            <p:extLst>
              <p:ext uri="{F5677B7D-0D2A-4D9B-9A5C-6D8D7D0E5A5D}">
                <pptd:line xmlns="" xmlns:pptd="https://kimi-design.msh.team/pptd/2026" encoding="base64url">eyJ2aWV3Qm94IjpbMjQsMl0sInBvaW50cyI6IjAsMSAyNCwxIn0</pptd:line>
              </p:ext>
            </p:extLst>
          </p:nvPr>
        </p:nvSpPr>
        <p:spPr>
          <a:xfrm>
            <a:off x="2514600" y="2057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9" name="n2"/>
          <p:cNvSpPr/>
          <p:nvPr/>
        </p:nvSpPr>
        <p:spPr>
          <a:xfrm>
            <a:off x="2857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0" name="n2t"/>
          <p:cNvSpPr txBox="1"/>
          <p:nvPr/>
        </p:nvSpPr>
        <p:spPr>
          <a:xfrm>
            <a:off x="2857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解释与假设</a:t>
            </a:r>
            <a:endParaRPr lang="en-US" sz="1400" noProof="1"/>
          </a:p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明确标注为假设</a:t>
            </a:r>
            <a:endParaRPr lang="en-US" sz="1400" noProof="1"/>
          </a:p>
        </p:txBody>
      </p:sp>
      <p:sp>
        <p:nvSpPr>
          <p:cNvPr id="11" name="na2"/>
          <p:cNvSpPr/>
          <p:nvPr>
            <p:extLst>
              <p:ext uri="{F5677B7D-0D2A-4D9B-9A5C-6D8D7D0E5A5D}">
                <pptd:line xmlns="" xmlns:pptd="https://kimi-design.msh.team/pptd/2026" encoding="base64url">eyJ2aWV3Qm94IjpbMjQsMl0sInBvaW50cyI6IjAsMSAyNCwxIn0</pptd:line>
              </p:ext>
            </p:extLst>
          </p:nvPr>
        </p:nvSpPr>
        <p:spPr>
          <a:xfrm>
            <a:off x="4800600" y="2057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2" name="n3"/>
          <p:cNvSpPr/>
          <p:nvPr/>
        </p:nvSpPr>
        <p:spPr>
          <a:xfrm>
            <a:off x="5143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3" name="n3t"/>
          <p:cNvSpPr txBox="1"/>
          <p:nvPr/>
        </p:nvSpPr>
        <p:spPr>
          <a:xfrm>
            <a:off x="5143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无法判断</a:t>
            </a:r>
            <a:endParaRPr lang="en-US" sz="1400" noProof="1"/>
          </a:p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声明缺什么</a:t>
            </a:r>
            <a:endParaRPr lang="en-US" sz="1400" noProof="1"/>
          </a:p>
        </p:txBody>
      </p:sp>
      <p:sp>
        <p:nvSpPr>
          <p:cNvPr id="14" name="na3"/>
          <p:cNvSpPr/>
          <p:nvPr>
            <p:extLst>
              <p:ext uri="{F5677B7D-0D2A-4D9B-9A5C-6D8D7D0E5A5D}">
                <pptd:line xmlns="" xmlns:pptd="https://kimi-design.msh.team/pptd/2026" encoding="base64url">eyJ2aWV3Qm94IjpbMjQsMl0sInBvaW50cyI6IjAsMSAyNCwxIn0</pptd:line>
              </p:ext>
            </p:extLst>
          </p:nvPr>
        </p:nvSpPr>
        <p:spPr>
          <a:xfrm>
            <a:off x="7086600" y="2057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5" name="n4"/>
          <p:cNvSpPr/>
          <p:nvPr/>
        </p:nvSpPr>
        <p:spPr>
          <a:xfrm>
            <a:off x="7429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6" name="n4t"/>
          <p:cNvSpPr txBox="1"/>
          <p:nvPr/>
        </p:nvSpPr>
        <p:spPr>
          <a:xfrm>
            <a:off x="7429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后续建议</a:t>
            </a:r>
            <a:endParaRPr lang="en-US" sz="1400" noProof="1"/>
          </a:p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1A287B"/>
                </a:solidFill>
                <a:latin typeface="微软雅黑"/>
                <a:ea typeface="微软雅黑"/>
              </a:rPr>
              <a:t>下一步动作</a:t>
            </a:r>
            <a:endParaRPr lang="en-US" sz="1400" noProof="1"/>
          </a:p>
        </p:txBody>
      </p:sp>
      <p:sp>
        <p:nvSpPr>
          <p:cNvPr id="17" name="na4"/>
          <p:cNvSpPr/>
          <p:nvPr>
            <p:extLst>
              <p:ext uri="{F5677B7D-0D2A-4D9B-9A5C-6D8D7D0E5A5D}">
                <pptd:line xmlns="" xmlns:pptd="https://kimi-design.msh.team/pptd/2026" encoding="base64url">eyJ2aWV3Qm94IjpbMjQsMl0sInBvaW50cyI6IjAsMSAyNCwxIn0</pptd:line>
              </p:ext>
            </p:extLst>
          </p:nvPr>
        </p:nvSpPr>
        <p:spPr>
          <a:xfrm>
            <a:off x="9372600" y="2057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8" name="n5"/>
          <p:cNvSpPr/>
          <p:nvPr/>
        </p:nvSpPr>
        <p:spPr>
          <a:xfrm>
            <a:off x="9715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4D04"/>
          </a:solidFill>
          <a:ln>
            <a:noFill/>
          </a:ln>
        </p:spPr>
      </p:sp>
      <p:sp>
        <p:nvSpPr>
          <p:cNvPr id="19" name="n5t"/>
          <p:cNvSpPr txBox="1"/>
          <p:nvPr/>
        </p:nvSpPr>
        <p:spPr>
          <a:xfrm>
            <a:off x="9715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noProof="1">
                <a:solidFill>
                  <a:srgbClr val="FFFFFF"/>
                </a:solidFill>
                <a:latin typeface="微软雅黑"/>
                <a:ea typeface="微软雅黑"/>
              </a:rPr>
              <a:t>证据编号
与来源绑定</a:t>
            </a:r>
            <a:endParaRPr lang="en-US" sz="1400" noProof="1"/>
          </a:p>
        </p:txBody>
      </p:sp>
      <p:sp>
        <p:nvSpPr>
          <p:cNvPr id="20" name="chains-label"/>
          <p:cNvSpPr txBox="1"/>
          <p:nvPr/>
        </p:nvSpPr>
        <p:spPr>
          <a:xfrm>
            <a:off x="762000" y="2971800"/>
            <a:ext cx="4064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noProof="1">
                <a:solidFill>
                  <a:srgbClr val="1A287B"/>
                </a:solidFill>
                <a:latin typeface="微软雅黑"/>
                <a:ea typeface="微软雅黑"/>
              </a:rPr>
              <a:t>可选大模型（DeepSeek）</a:t>
            </a:r>
            <a:endParaRPr lang="en-US" sz="1900" noProof="1"/>
          </a:p>
        </p:txBody>
      </p:sp>
      <p:sp>
        <p:nvSpPr>
          <p:cNvPr id="21" name="k1"/>
          <p:cNvSpPr/>
          <p:nvPr/>
        </p:nvSpPr>
        <p:spPr>
          <a:xfrm>
            <a:off x="762000" y="34544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22" name="k1-bar"/>
          <p:cNvSpPr/>
          <p:nvPr/>
        </p:nvSpPr>
        <p:spPr>
          <a:xfrm>
            <a:off x="762000" y="3454400"/>
            <a:ext cx="3556000" cy="50800"/>
          </a:xfrm>
          <a:prstGeom prst="rect">
            <a:avLst/>
          </a:prstGeom>
          <a:solidFill>
            <a:srgbClr val="1A287B"/>
          </a:solidFill>
          <a:ln>
            <a:noFill/>
          </a:ln>
        </p:spPr>
      </p:sp>
      <p:sp>
        <p:nvSpPr>
          <p:cNvPr id="23" name="k1-title"/>
          <p:cNvSpPr txBox="1"/>
          <p:nvPr/>
        </p:nvSpPr>
        <p:spPr>
          <a:xfrm>
            <a:off x="1016000" y="36830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只解释已选中的证据</a:t>
            </a:r>
            <a:endParaRPr lang="en-US" sz="1800" noProof="1"/>
          </a:p>
        </p:txBody>
      </p:sp>
      <p:sp>
        <p:nvSpPr>
          <p:cNvPr id="24" name="k1-body"/>
          <p:cNvSpPr txBox="1"/>
          <p:nvPr/>
        </p:nvSpPr>
        <p:spPr>
          <a:xfrm>
            <a:off x="1016000" y="41402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5B6472"/>
                </a:solidFill>
                <a:latin typeface="微软雅黑"/>
                <a:ea typeface="微软雅黑"/>
              </a:rPr>
              <a:t>必须引用有效证据编号，不能创造解析事实</a:t>
            </a:r>
            <a:endParaRPr lang="en-US" sz="1800" noProof="1"/>
          </a:p>
        </p:txBody>
      </p:sp>
      <p:sp>
        <p:nvSpPr>
          <p:cNvPr id="25" name="k2"/>
          <p:cNvSpPr/>
          <p:nvPr/>
        </p:nvSpPr>
        <p:spPr>
          <a:xfrm>
            <a:off x="4445000" y="34544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26" name="k2-bar"/>
          <p:cNvSpPr/>
          <p:nvPr/>
        </p:nvSpPr>
        <p:spPr>
          <a:xfrm>
            <a:off x="4445000" y="3454400"/>
            <a:ext cx="35560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27" name="k2-title"/>
          <p:cNvSpPr txBox="1"/>
          <p:nvPr/>
        </p:nvSpPr>
        <p:spPr>
          <a:xfrm>
            <a:off x="4699000" y="36830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调用有严格上限</a:t>
            </a:r>
            <a:endParaRPr lang="en-US" sz="1800" noProof="1"/>
          </a:p>
        </p:txBody>
      </p:sp>
      <p:sp>
        <p:nvSpPr>
          <p:cNvPr id="28" name="k2-body"/>
          <p:cNvSpPr txBox="1"/>
          <p:nvPr/>
        </p:nvSpPr>
        <p:spPr>
          <a:xfrm>
            <a:off x="4699000" y="41402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5B6472"/>
                </a:solidFill>
                <a:latin typeface="微软雅黑"/>
                <a:ea typeface="微软雅黑"/>
              </a:rPr>
              <a:t>证据不超过 100 条，单条不超过 2000 字符，请求与响应各不超过 256 KB</a:t>
            </a:r>
            <a:endParaRPr lang="en-US" sz="1800" noProof="1"/>
          </a:p>
        </p:txBody>
      </p:sp>
      <p:sp>
        <p:nvSpPr>
          <p:cNvPr id="29" name="k3"/>
          <p:cNvSpPr/>
          <p:nvPr/>
        </p:nvSpPr>
        <p:spPr>
          <a:xfrm>
            <a:off x="8128000" y="34544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30" name="k3-bar"/>
          <p:cNvSpPr/>
          <p:nvPr/>
        </p:nvSpPr>
        <p:spPr>
          <a:xfrm>
            <a:off x="8128000" y="3454400"/>
            <a:ext cx="3556000" cy="50800"/>
          </a:xfrm>
          <a:prstGeom prst="rect">
            <a:avLst/>
          </a:prstGeom>
          <a:solidFill>
            <a:srgbClr val="1A287B"/>
          </a:solidFill>
          <a:ln>
            <a:noFill/>
          </a:ln>
        </p:spPr>
      </p:sp>
      <p:sp>
        <p:nvSpPr>
          <p:cNvPr id="31" name="k3-title"/>
          <p:cNvSpPr txBox="1"/>
          <p:nvPr/>
        </p:nvSpPr>
        <p:spPr>
          <a:xfrm>
            <a:off x="8382000" y="3683000"/>
            <a:ext cx="3048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越界结论会被拒绝</a:t>
            </a:r>
            <a:endParaRPr lang="en-US" sz="1800" noProof="1"/>
          </a:p>
        </p:txBody>
      </p:sp>
      <p:sp>
        <p:nvSpPr>
          <p:cNvPr id="32" name="k3-body"/>
          <p:cNvSpPr txBox="1"/>
          <p:nvPr/>
        </p:nvSpPr>
        <p:spPr>
          <a:xfrm>
            <a:off x="8382000" y="4470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5B6472"/>
                </a:solidFill>
                <a:latin typeface="微软雅黑"/>
                <a:ea typeface="微软雅黑"/>
              </a:rPr>
              <a:t>声称已解密、恶意、攻击流量一类的结论会被拦截</a:t>
            </a:r>
            <a:endParaRPr lang="en-US" sz="1800" noProof="1"/>
          </a:p>
        </p:txBody>
      </p:sp>
      <p:sp>
        <p:nvSpPr>
          <p:cNvPr id="33" name="foot-note"/>
          <p:cNvSpPr txBox="1"/>
          <p:nvPr/>
        </p:nvSpPr>
        <p:spPr>
          <a:xfrm>
            <a:off x="762000" y="5740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默认不调用；密钥只在内存中，调用记录不含密钥，由独立验证器核对。</a:t>
            </a:r>
            <a:endParaRPr lang="en-US" sz="1400" noProof="1"/>
          </a:p>
        </p:txBody>
      </p:sp>
      <p:sp>
        <p:nvSpPr>
          <p:cNvPr id="34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12 / 15</a:t>
            </a:r>
            <a:endParaRPr lang="en-US" sz="12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1A287B"/>
                </a:solidFill>
                <a:latin typeface="微软雅黑"/>
                <a:ea typeface="微软雅黑"/>
              </a:rPr>
              <a:t>验收不由分析程序自己决定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code-box"/>
          <p:cNvSpPr/>
          <p:nvPr/>
        </p:nvSpPr>
        <p:spPr>
          <a:xfrm>
            <a:off x="762000" y="1320800"/>
            <a:ext cx="10668000" cy="1320800"/>
          </a:xfrm>
          <a:prstGeom prst="roundRect">
            <a:avLst>
              <a:gd name="adj" fmla="val 8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6" name="code-text"/>
          <p:cNvSpPr txBox="1"/>
          <p:nvPr/>
        </p:nvSpPr>
        <p:spPr>
          <a:xfrm>
            <a:off x="1066800" y="1498600"/>
            <a:ext cx="10160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70000"/>
              </a:lnSpc>
            </a:pPr>
            <a:r>
              <a:rPr lang="en-US" sz="1400" noProof="1">
                <a:solidFill>
                  <a:srgbClr val="E8EEF7"/>
                </a:solidFill>
                <a:latin typeface="Consolas"/>
                <a:ea typeface="Consolas"/>
              </a:rPr>
              <a:t>python -B scripts\verify_acceptance.py reports\acceptance\2026-09-11-abc\acceptance.json</a:t>
            </a:r>
            <a:endParaRPr lang="en-US" sz="1400" noProof="1"/>
          </a:p>
          <a:p>
            <a:pPr algn="l">
              <a:lnSpc>
                <a:spcPct val="170000"/>
              </a:lnSpc>
            </a:pPr>
            <a:r>
              <a:rPr lang="en-US" sz="1400" noProof="1">
                <a:solidFill>
                  <a:srgbClr val="F5A85C"/>
                </a:solidFill>
                <a:latin typeface="Consolas"/>
                <a:ea typeface="Consolas"/>
              </a:rPr>
              <a:t># acceptance: PASS</a:t>
            </a:r>
            <a:endParaRPr lang="en-US" sz="1400" noProof="1"/>
          </a:p>
        </p:txBody>
      </p:sp>
      <p:sp>
        <p:nvSpPr>
          <p:cNvPr id="7" name="recalc-label"/>
          <p:cNvSpPr txBox="1"/>
          <p:nvPr/>
        </p:nvSpPr>
        <p:spPr>
          <a:xfrm>
            <a:off x="762000" y="3022600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1A287B"/>
                </a:solidFill>
                <a:latin typeface="微软雅黑"/>
                <a:ea typeface="微软雅黑"/>
              </a:rPr>
              <a:t>验收脚本重新计算，不采信分析程序自己写的状态说明</a:t>
            </a:r>
            <a:endParaRPr lang="en-US" sz="1800" noProof="1"/>
          </a:p>
        </p:txBody>
      </p:sp>
      <p:sp>
        <p:nvSpPr>
          <p:cNvPr id="8" name="v1"/>
          <p:cNvSpPr/>
          <p:nvPr/>
        </p:nvSpPr>
        <p:spPr>
          <a:xfrm>
            <a:off x="508000" y="3606800"/>
            <a:ext cx="2032000" cy="660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9" name="v1t"/>
          <p:cNvSpPr txBox="1"/>
          <p:nvPr/>
        </p:nvSpPr>
        <p:spPr>
          <a:xfrm>
            <a:off x="508000" y="36068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1A287B"/>
                </a:solidFill>
                <a:latin typeface="微软雅黑"/>
                <a:ea typeface="微软雅黑"/>
              </a:rPr>
              <a:t>模块覆盖</a:t>
            </a:r>
            <a:endParaRPr lang="en-US" sz="1600" noProof="1"/>
          </a:p>
        </p:txBody>
      </p:sp>
      <p:sp>
        <p:nvSpPr>
          <p:cNvPr id="10" name="v2"/>
          <p:cNvSpPr/>
          <p:nvPr/>
        </p:nvSpPr>
        <p:spPr>
          <a:xfrm>
            <a:off x="2794000" y="3606800"/>
            <a:ext cx="2032000" cy="660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1" name="v2t"/>
          <p:cNvSpPr txBox="1"/>
          <p:nvPr/>
        </p:nvSpPr>
        <p:spPr>
          <a:xfrm>
            <a:off x="2794000" y="36068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1A287B"/>
                </a:solidFill>
                <a:latin typeface="微软雅黑"/>
                <a:ea typeface="微软雅黑"/>
              </a:rPr>
              <a:t>文件哈希</a:t>
            </a:r>
            <a:endParaRPr lang="en-US" sz="1600" noProof="1"/>
          </a:p>
        </p:txBody>
      </p:sp>
      <p:sp>
        <p:nvSpPr>
          <p:cNvPr id="12" name="v3"/>
          <p:cNvSpPr/>
          <p:nvPr/>
        </p:nvSpPr>
        <p:spPr>
          <a:xfrm>
            <a:off x="5080000" y="3606800"/>
            <a:ext cx="2032000" cy="660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3" name="v3t"/>
          <p:cNvSpPr txBox="1"/>
          <p:nvPr/>
        </p:nvSpPr>
        <p:spPr>
          <a:xfrm>
            <a:off x="5080000" y="36068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1A287B"/>
                </a:solidFill>
                <a:latin typeface="微软雅黑"/>
                <a:ea typeface="微软雅黑"/>
              </a:rPr>
              <a:t>恢复真值</a:t>
            </a:r>
            <a:endParaRPr lang="en-US" sz="1600" noProof="1"/>
          </a:p>
        </p:txBody>
      </p:sp>
      <p:sp>
        <p:nvSpPr>
          <p:cNvPr id="14" name="v4"/>
          <p:cNvSpPr/>
          <p:nvPr/>
        </p:nvSpPr>
        <p:spPr>
          <a:xfrm>
            <a:off x="7366000" y="3606800"/>
            <a:ext cx="2032000" cy="660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5" name="v4t"/>
          <p:cNvSpPr txBox="1"/>
          <p:nvPr/>
        </p:nvSpPr>
        <p:spPr>
          <a:xfrm>
            <a:off x="7366000" y="36068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1A287B"/>
                </a:solidFill>
                <a:latin typeface="微软雅黑"/>
                <a:ea typeface="微软雅黑"/>
              </a:rPr>
              <a:t>分类模型绑定</a:t>
            </a:r>
            <a:endParaRPr lang="en-US" sz="1600" noProof="1"/>
          </a:p>
        </p:txBody>
      </p:sp>
      <p:sp>
        <p:nvSpPr>
          <p:cNvPr id="16" name="v5"/>
          <p:cNvSpPr/>
          <p:nvPr/>
        </p:nvSpPr>
        <p:spPr>
          <a:xfrm>
            <a:off x="9652000" y="3606800"/>
            <a:ext cx="2032000" cy="660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7" name="v5t"/>
          <p:cNvSpPr txBox="1"/>
          <p:nvPr/>
        </p:nvSpPr>
        <p:spPr>
          <a:xfrm>
            <a:off x="9652000" y="36068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1A287B"/>
                </a:solidFill>
                <a:latin typeface="微软雅黑"/>
                <a:ea typeface="微软雅黑"/>
              </a:rPr>
              <a:t>模型调用记录</a:t>
            </a:r>
            <a:endParaRPr lang="en-US" sz="1600" noProof="1"/>
          </a:p>
        </p:txBody>
      </p:sp>
      <p:sp>
        <p:nvSpPr>
          <p:cNvPr id="18" name="foot-note"/>
          <p:cNvSpPr txBox="1"/>
          <p:nvPr/>
        </p:nvSpPr>
        <p:spPr>
          <a:xfrm>
            <a:off x="762000" y="5740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结论有范围限定与哈希绑定；无法支撑的结论显式降级。</a:t>
            </a:r>
            <a:endParaRPr lang="en-US" sz="1400" noProof="1"/>
          </a:p>
        </p:txBody>
      </p:sp>
      <p:sp>
        <p:nvSpPr>
          <p:cNvPr id="19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13 / 15</a:t>
            </a:r>
            <a:endParaRPr lang="en-US" sz="12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dr-title"/>
          <p:cNvSpPr txBox="1"/>
          <p:nvPr/>
        </p:nvSpPr>
        <p:spPr>
          <a:xfrm>
            <a:off x="508000" y="3048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1A287B"/>
                </a:solidFill>
                <a:latin typeface="微软雅黑"/>
                <a:ea typeface="微软雅黑"/>
              </a:rPr>
              <a:t>未来展望：协议面与行为面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trust-label"/>
          <p:cNvSpPr txBox="1"/>
          <p:nvPr/>
        </p:nvSpPr>
        <p:spPr>
          <a:xfrm>
            <a:off x="762000" y="12192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noProof="1">
                <a:solidFill>
                  <a:srgbClr val="1A287B"/>
                </a:solidFill>
                <a:latin typeface="微软雅黑"/>
                <a:ea typeface="微软雅黑"/>
              </a:rPr>
              <a:t>当前能力边界</a:t>
            </a:r>
            <a:endParaRPr lang="en-US" sz="1900" noProof="1"/>
          </a:p>
        </p:txBody>
      </p:sp>
      <p:sp>
        <p:nvSpPr>
          <p:cNvPr id="6" name="n1"/>
          <p:cNvSpPr/>
          <p:nvPr/>
        </p:nvSpPr>
        <p:spPr>
          <a:xfrm>
            <a:off x="571500" y="1676400"/>
            <a:ext cx="109728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7" name="n1t"/>
          <p:cNvSpPr txBox="1"/>
          <p:nvPr/>
        </p:nvSpPr>
        <p:spPr>
          <a:xfrm>
            <a:off x="571500" y="1676400"/>
            <a:ext cx="10972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0" noProof="1">
                <a:solidFill>
                  <a:srgbClr val="1A287B"/>
                </a:solidFill>
                <a:latin typeface="微软雅黑"/>
                <a:ea typeface="微软雅黑"/>
              </a:rPr>
              <a:t>M08 声明布局只覆盖 TLS；M11 是流级特征、三类标签，数据来自 18 条回环流。</a:t>
            </a:r>
            <a:endParaRPr lang="en-US" sz="1400" noProof="1"/>
          </a:p>
        </p:txBody>
      </p:sp>
      <p:sp>
        <p:nvSpPr>
          <p:cNvPr id="20" name="chains-label"/>
          <p:cNvSpPr txBox="1"/>
          <p:nvPr/>
        </p:nvSpPr>
        <p:spPr>
          <a:xfrm>
            <a:off x="762000" y="2971800"/>
            <a:ext cx="4064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noProof="1">
                <a:solidFill>
                  <a:srgbClr val="1A287B"/>
                </a:solidFill>
                <a:latin typeface="微软雅黑"/>
                <a:ea typeface="微软雅黑"/>
              </a:rPr>
              <a:t>后续方向</a:t>
            </a:r>
            <a:endParaRPr lang="en-US" sz="1900" noProof="1"/>
          </a:p>
        </p:txBody>
      </p:sp>
      <p:sp>
        <p:nvSpPr>
          <p:cNvPr id="21" name="k1"/>
          <p:cNvSpPr/>
          <p:nvPr/>
        </p:nvSpPr>
        <p:spPr>
          <a:xfrm>
            <a:off x="762000" y="34544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22" name="k1-bar"/>
          <p:cNvSpPr/>
          <p:nvPr/>
        </p:nvSpPr>
        <p:spPr>
          <a:xfrm>
            <a:off x="762000" y="3454400"/>
            <a:ext cx="3556000" cy="50800"/>
          </a:xfrm>
          <a:prstGeom prst="rect">
            <a:avLst/>
          </a:prstGeom>
          <a:solidFill>
            <a:srgbClr val="1A287B"/>
          </a:solidFill>
          <a:ln>
            <a:noFill/>
          </a:ln>
        </p:spPr>
      </p:sp>
      <p:sp>
        <p:nvSpPr>
          <p:cNvPr id="23" name="k1-title"/>
          <p:cNvSpPr txBox="1"/>
          <p:nvPr/>
        </p:nvSpPr>
        <p:spPr>
          <a:xfrm>
            <a:off x="1016000" y="36830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扩展到其他协议</a:t>
            </a:r>
            <a:endParaRPr lang="en-US" sz="1800" noProof="1"/>
          </a:p>
        </p:txBody>
      </p:sp>
      <p:sp>
        <p:nvSpPr>
          <p:cNvPr id="24" name="k1-body"/>
          <p:cNvSpPr txBox="1"/>
          <p:nvPr/>
        </p:nvSpPr>
        <p:spPr>
          <a:xfrm>
            <a:off x="1016000" y="41402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5B6472"/>
                </a:solidFill>
                <a:latin typeface="微软雅黑"/>
                <a:ea typeface="微软雅黑"/>
              </a:rPr>
              <a:t>声明布局现只覆盖 TLS；下一步补 SSH、QUIC 等记录层。</a:t>
            </a:r>
            <a:endParaRPr lang="en-US" sz="1800" noProof="1"/>
          </a:p>
        </p:txBody>
      </p:sp>
      <p:sp>
        <p:nvSpPr>
          <p:cNvPr id="25" name="k2"/>
          <p:cNvSpPr/>
          <p:nvPr/>
        </p:nvSpPr>
        <p:spPr>
          <a:xfrm>
            <a:off x="4445000" y="34544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26" name="k2-bar"/>
          <p:cNvSpPr/>
          <p:nvPr/>
        </p:nvSpPr>
        <p:spPr>
          <a:xfrm>
            <a:off x="4445000" y="3454400"/>
            <a:ext cx="35560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27" name="k2-title"/>
          <p:cNvSpPr txBox="1"/>
          <p:nvPr/>
        </p:nvSpPr>
        <p:spPr>
          <a:xfrm>
            <a:off x="4699000" y="36830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行为类别扩展到恶意流量</a:t>
            </a:r>
            <a:endParaRPr lang="en-US" sz="1800" noProof="1"/>
          </a:p>
        </p:txBody>
      </p:sp>
      <p:sp>
        <p:nvSpPr>
          <p:cNvPr id="28" name="k2-body"/>
          <p:cNvSpPr txBox="1"/>
          <p:nvPr/>
        </p:nvSpPr>
        <p:spPr>
          <a:xfrm>
            <a:off x="4699000" y="41402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5B6472"/>
                </a:solidFill>
                <a:latin typeface="微软雅黑"/>
                <a:ea typeface="微软雅黑"/>
              </a:rPr>
              <a:t>现有三类来自 18 条回环流；恶意识别需带标签采集。</a:t>
            </a:r>
            <a:endParaRPr lang="en-US" sz="1800" noProof="1"/>
          </a:p>
        </p:txBody>
      </p:sp>
      <p:sp>
        <p:nvSpPr>
          <p:cNvPr id="29" name="k3"/>
          <p:cNvSpPr/>
          <p:nvPr/>
        </p:nvSpPr>
        <p:spPr>
          <a:xfrm>
            <a:off x="8128000" y="34544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30" name="k3-bar"/>
          <p:cNvSpPr/>
          <p:nvPr/>
        </p:nvSpPr>
        <p:spPr>
          <a:xfrm>
            <a:off x="8128000" y="3454400"/>
            <a:ext cx="3556000" cy="50800"/>
          </a:xfrm>
          <a:prstGeom prst="rect">
            <a:avLst/>
          </a:prstGeom>
          <a:solidFill>
            <a:srgbClr val="1A287B"/>
          </a:solidFill>
          <a:ln>
            <a:noFill/>
          </a:ln>
        </p:spPr>
      </p:sp>
      <p:sp>
        <p:nvSpPr>
          <p:cNvPr id="31" name="k3-title"/>
          <p:cNvSpPr txBox="1"/>
          <p:nvPr/>
        </p:nvSpPr>
        <p:spPr>
          <a:xfrm>
            <a:off x="8382000" y="36830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5000"/>
              </a:lnSpc>
            </a:pPr>
            <a:r>
              <a:rPr lang="en-US" sz="1800" b="1" noProof="1">
                <a:solidFill>
                  <a:srgbClr val="1F2937"/>
                </a:solidFill>
                <a:latin typeface="微软雅黑"/>
                <a:ea typeface="微软雅黑"/>
              </a:rPr>
              <a:t>行为特征补主机级</a:t>
            </a:r>
            <a:endParaRPr lang="en-US" sz="1800" noProof="1"/>
          </a:p>
        </p:txBody>
      </p:sp>
      <p:sp>
        <p:nvSpPr>
          <p:cNvPr id="32" name="k3-body"/>
          <p:cNvSpPr txBox="1"/>
          <p:nvPr/>
        </p:nvSpPr>
        <p:spPr>
          <a:xfrm>
            <a:off x="8382000" y="41402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5B6472"/>
                </a:solidFill>
                <a:latin typeface="微软雅黑"/>
                <a:ea typeface="微软雅黑"/>
              </a:rPr>
              <a:t>现为流级；下一步做主机级多流聚合，不下身份归属。</a:t>
            </a:r>
            <a:endParaRPr lang="en-US" sz="1800" noProof="1"/>
          </a:p>
        </p:txBody>
      </p:sp>
      <p:sp>
        <p:nvSpPr>
          <p:cNvPr id="33" name="foot-note"/>
          <p:cNvSpPr txBox="1"/>
          <p:nvPr/>
        </p:nvSpPr>
        <p:spPr>
          <a:xfrm>
            <a:off x="762000" y="5740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以上均为后续工作，不是当前能力；落地前需要新的独立采集或协议布局。</a:t>
            </a:r>
            <a:endParaRPr lang="en-US" sz="1400" noProof="1"/>
          </a:p>
        </p:txBody>
      </p:sp>
      <p:sp>
        <p:nvSpPr>
          <p:cNvPr id="34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14 / 15</a:t>
            </a:r>
            <a:endParaRPr lang="en-US" sz="12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1A287B"/>
                </a:solidFill>
                <a:latin typeface="微软雅黑"/>
                <a:ea typeface="微软雅黑"/>
              </a:rPr>
              <a:t>三人分工与工作量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graphicFrame>
        <p:nvGraphicFramePr>
          <p:cNvPr id="5" name="team-table"/>
          <p:cNvGraphicFramePr>
            <a:graphicFrameLocks noGrp="1"/>
          </p:cNvGraphicFramePr>
          <p:nvPr/>
        </p:nvGraphicFramePr>
        <p:xfrm>
          <a:off x="762000" y="1371600"/>
          <a:ext cx="10668000" cy="2794000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1" noProof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1" noProof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1" noProof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占比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A（张豪）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集成、报告、大模型适配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34%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B（裴晨）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协议、结构、数据恢复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33%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C（李彦希）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数据、分类、独立验收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33%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end-banner"/>
          <p:cNvSpPr/>
          <p:nvPr/>
        </p:nvSpPr>
        <p:spPr>
          <a:xfrm>
            <a:off x="508000" y="4673600"/>
            <a:ext cx="11176000" cy="914400"/>
          </a:xfrm>
          <a:prstGeom prst="roundRect">
            <a:avLst>
              <a:gd name="adj" fmla="val 10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7" name="end-text"/>
          <p:cNvSpPr txBox="1"/>
          <p:nvPr/>
        </p:nvSpPr>
        <p:spPr>
          <a:xfrm>
            <a:off x="1016000" y="4826000"/>
            <a:ext cx="10160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00" b="1" noProof="1">
                <a:solidFill>
                  <a:srgbClr val="FFFFFF"/>
                </a:solidFill>
                <a:latin typeface="微软雅黑"/>
                <a:ea typeface="微软雅黑"/>
              </a:rPr>
              <a:t>推断是</a:t>
            </a:r>
            <a:r>
              <a:rPr lang="en-US" sz="2100" b="1" noProof="1">
                <a:solidFill>
                  <a:srgbClr val="F5A85C"/>
                </a:solidFill>
                <a:latin typeface="微软雅黑"/>
                <a:ea typeface="微软雅黑"/>
              </a:rPr>
              <a:t>候选</a:t>
            </a:r>
            <a:r>
              <a:rPr lang="en-US" sz="2100" b="1" noProof="1">
                <a:solidFill>
                  <a:srgbClr val="FFFFFF"/>
                </a:solidFill>
                <a:latin typeface="微软雅黑"/>
                <a:ea typeface="微软雅黑"/>
              </a:rPr>
              <a:t>、恢复有校验、识别有出处、失败会降级。</a:t>
            </a:r>
            <a:endParaRPr lang="en-US" sz="2100" noProof="1"/>
          </a:p>
        </p:txBody>
      </p:sp>
      <p:sp>
        <p:nvSpPr>
          <p:cNvPr id="8" name="foot-note"/>
          <p:cNvSpPr txBox="1"/>
          <p:nvPr/>
        </p:nvSpPr>
        <p:spPr>
          <a:xfrm>
            <a:off x="762000" y="58166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张豪 2024211553 · 裴晨 2024211554 · 李彦希 2024211552</a:t>
            </a:r>
            <a:endParaRPr lang="en-US" sz="1400" noProof="1"/>
          </a:p>
        </p:txBody>
      </p:sp>
      <p:sp>
        <p:nvSpPr>
          <p:cNvPr id="9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15 / 15</a:t>
            </a:r>
            <a:endParaRPr lang="en-US" sz="12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719</Words>
  <Application>Microsoft Office PowerPoint</Application>
  <PresentationFormat>宽屏</PresentationFormat>
  <Paragraphs>227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MiSans</vt:lpstr>
      <vt:lpstr>微软雅黑</vt:lpstr>
      <vt:lpstr>Consolas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网络加密流量二进制分析 · 课程设计答辩（13 页）</dc:title>
  <cp:lastModifiedBy>豪 张</cp:lastModifiedBy>
  <cp:revision>4</cp:revision>
  <dcterms:modified xsi:type="dcterms:W3CDTF">2026-09-12T01:25:32Z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